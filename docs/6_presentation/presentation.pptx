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Thank you for coming. Today I will show a new platform for programming exercises. It lets tutors run and manage exercises on their own. I will focus on what the system does. At the end I will show how it was built.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university runs exercises on an old system called OLE. It stores every exercise in one big XML file. One small mistake can break the whole file. So people are afraid to edit it. There are few maintainers. The result is stale content and no new exercise types. Tutors have no safe way to author or fix content. This is the real pain we set out to fix.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solution is a new, standalone platform. It runs on its own, apart from OLE. It has three roles: student, tutor, and super admin. Exercises use Blockly. Students drag blocks to build code. Block-based coding is a well-known way to teach programming. Tools like Hedy, EduBlocks, and Open Roberta use the same idea. Grading is decoupled. Students export an answer. Tutors import it and grade it. This mirrors the old workflow, but in a safe, modern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word on the approach. The first attempt was pure vibe coding over a chat. There was no plan, no design, and no review. It worked fine for small changes. But it broke as the project grew. One fix often caused new bugs. Progress stalled. The lesson is simple. The AI can write code. But it needs a real process to be reliable. So I rebuilt the project on a disciplined pipeline. I will show that near the end. First, let me show what the system actually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system at a high level. Requests come in through Nginx. Nginx serves the site and passes API calls to Spring Boot. Spring Boot talks to a MySQL database. When a tutor grades a Blockly answer, it runs on the server. It runs in a safe sandbox, so student code cannot do harm. Prometheus and Grafana watch the system. The whole thing runs on one server with Docker. It is simple to deploy and simple to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start with the student. The student opens a published exercise. They drag blocks to build their solution. They click Run. The code runs right in the browser. It runs in a safe worker, off the main thread. They see the result at once. There is no waiting and no risk to the server. When they are happy, they export their answer to a file. That file is what the tutor will grade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tutor side. This is the part OLE could not do well. A tutor can create a new exercise on their own. They set the task and choose the blocks. They can edit it and publish it. Here is the key safety idea. Every edit saves a new version. Old versions are never lost. If an edit is wrong, rollback is easy. You just point back to an older version. So tutors can change content without fear.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Tutors also organize their content. They group exercises into courses. They use categories to keep things tidy. They assign exercises to a course. And they choose which students see them. This gives each tutor full control of their own material. They no longer depend on one shared, fragile 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the platform. It replaces the old OLE grading workflow. A student exports an answer file. The tutor imports that file. The system grades the Blockly answer automatically. The grading runs safely on the server. It also checks for problems. It flags duplicate submissions. It flags when a student used an old version. Finally, tutors can export all results to a CSV file. This whole loop used to be manual and painful. Now it is simple.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smaller pieces to round this out. First, the super admin manages user accounts. They can create accounts. They can also disable a user. A disabled user is locked out at once, on the next request. Second, monitoring. Grafana shows the live health of the system. If something breaks, an alert fires. So the platform is easy to keep healthy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briefly, how it was built. This is the process that replaced the chat experiment. Every feature followed the same steps. We brainstorm. We write a design. We write a plan. We write code with tests first. We review. Then we deploy. Each step leaves a record you can check later. This is the key. Every AI decision has a checkpoint. And every change passes a review gate before it merges. That is what made the AI reliable.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did what? The AI wrote almost all of the code. It followed my specs and my tests. It ran the test steps and the automated review. But the important work was mine. I found the real OLE problems. I wrote the requirements. I made the permanent calls, like one server and no hard deletes. I reviewed and approved every merge. And I owned what shipped. The point is this. Writing code is easy now. Deciding what to build and being accountable is the real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did this produce? A working, deployed platform that fixes the OLE pain points. The numbers: 457 commits. Over 330 backend tests and over 280 frontend tests. They were all green at every merge. An honest lesson. The process has a cost. It slows down small changes. But it catches bugs before they ship. For future work: likes, profiles, and Python exercises. The bigger idea is this. A disciplined process makes AI-built software safe to deploy.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lists the references. It is here if a marker asks.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91695" cy="5486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74519"/>
            <a:ext cx="10515600" cy="914400"/>
          </a:xfrm>
          <a:prstGeom prst="rect">
            <a:avLst/>
          </a:prstGeom>
          <a:noFill/>
        </p:spPr>
        <p:txBody>
          <a:bodyPr wrap="square" lIns="0" rIns="0" tIns="0" bIns="0">
            <a:spAutoFit/>
          </a:bodyPr>
          <a:lstStyle/>
          <a:p>
            <a:r>
              <a:rPr sz="4200" b="1" i="0">
                <a:solidFill>
                  <a:srgbClr val="FFFFFF"/>
                </a:solidFill>
                <a:latin typeface="Calibri"/>
              </a:rPr>
              <a:t>Programming Learning Platform</a:t>
            </a:r>
          </a:p>
        </p:txBody>
      </p:sp>
      <p:sp>
        <p:nvSpPr>
          <p:cNvPr id="5" name="TextBox 4"/>
          <p:cNvSpPr txBox="1"/>
          <p:nvPr/>
        </p:nvSpPr>
        <p:spPr>
          <a:xfrm>
            <a:off x="822960" y="2971800"/>
            <a:ext cx="10515600" cy="548640"/>
          </a:xfrm>
          <a:prstGeom prst="rect">
            <a:avLst/>
          </a:prstGeom>
          <a:noFill/>
        </p:spPr>
        <p:txBody>
          <a:bodyPr wrap="square" lIns="0" rIns="0" tIns="0" bIns="0">
            <a:spAutoFit/>
          </a:bodyPr>
          <a:lstStyle/>
          <a:p>
            <a:r>
              <a:rPr sz="2000" b="0" i="0">
                <a:solidFill>
                  <a:srgbClr val="93C5FD"/>
                </a:solidFill>
                <a:latin typeface="Calibri"/>
              </a:rPr>
              <a:t>A Blockly Exercise Platform for Tutors and Students</a:t>
            </a:r>
          </a:p>
        </p:txBody>
      </p:sp>
      <p:sp>
        <p:nvSpPr>
          <p:cNvPr id="6" name="TextBox 5"/>
          <p:cNvSpPr txBox="1"/>
          <p:nvPr/>
        </p:nvSpPr>
        <p:spPr>
          <a:xfrm>
            <a:off x="822960" y="3840480"/>
            <a:ext cx="10515600" cy="457200"/>
          </a:xfrm>
          <a:prstGeom prst="rect">
            <a:avLst/>
          </a:prstGeom>
          <a:noFill/>
        </p:spPr>
        <p:txBody>
          <a:bodyPr wrap="square" lIns="0" rIns="0" tIns="0" bIns="0">
            <a:spAutoFit/>
          </a:bodyPr>
          <a:lstStyle/>
          <a:p>
            <a:r>
              <a:rPr sz="1600" b="0" i="0">
                <a:solidFill>
                  <a:srgbClr val="CBD5E1"/>
                </a:solidFill>
                <a:latin typeface="Calibri"/>
              </a:rPr>
              <a:t>[Your Name]   ·   COMP 8960SEF Capstone Project   ·   [Presentation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1 — THE PROBLEM AND ITS VALUE</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The Problem</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2</a:t>
            </a:r>
          </a:p>
        </p:txBody>
      </p:sp>
      <p:sp>
        <p:nvSpPr>
          <p:cNvPr id="8" name="TextBox 7"/>
          <p:cNvSpPr txBox="1"/>
          <p:nvPr/>
        </p:nvSpPr>
        <p:spPr>
          <a:xfrm>
            <a:off x="502920" y="1600200"/>
            <a:ext cx="11183112" cy="1828800"/>
          </a:xfrm>
          <a:prstGeom prst="rect">
            <a:avLst/>
          </a:prstGeom>
          <a:noFill/>
        </p:spPr>
        <p:txBody>
          <a:bodyPr wrap="square" lIns="0" rIns="0" tIns="0" bIns="0">
            <a:spAutoFit/>
          </a:bodyPr>
          <a:lstStyle/>
          <a:p>
            <a:pPr>
              <a:spcBef>
                <a:spcPts val="0"/>
              </a:spcBef>
              <a:spcAft>
                <a:spcPts val="600"/>
              </a:spcAft>
            </a:pPr>
            <a:r>
              <a:rPr sz="2000" b="1" i="0">
                <a:solidFill>
                  <a:srgbClr val="2563EB"/>
                </a:solidFill>
                <a:latin typeface="Calibri"/>
              </a:rPr>
              <a:t>•  </a:t>
            </a:r>
            <a:r>
              <a:rPr sz="2000" b="0" i="0">
                <a:solidFill>
                  <a:srgbClr val="1F2937"/>
                </a:solidFill>
                <a:latin typeface="Calibri"/>
              </a:rPr>
              <a:t>The old platform is called OLE.</a:t>
            </a:r>
          </a:p>
          <a:p>
            <a:pPr>
              <a:spcBef>
                <a:spcPts val="0"/>
              </a:spcBef>
              <a:spcAft>
                <a:spcPts val="600"/>
              </a:spcAft>
            </a:pPr>
            <a:r>
              <a:rPr sz="2000" b="1" i="0">
                <a:solidFill>
                  <a:srgbClr val="2563EB"/>
                </a:solidFill>
                <a:latin typeface="Calibri"/>
              </a:rPr>
              <a:t>•  </a:t>
            </a:r>
            <a:r>
              <a:rPr sz="2000" b="0" i="0">
                <a:solidFill>
                  <a:srgbClr val="1F2937"/>
                </a:solidFill>
                <a:latin typeface="Calibri"/>
              </a:rPr>
              <a:t>It keeps every exercise in one big XML file.</a:t>
            </a:r>
          </a:p>
          <a:p>
            <a:pPr>
              <a:spcBef>
                <a:spcPts val="0"/>
              </a:spcBef>
              <a:spcAft>
                <a:spcPts val="600"/>
              </a:spcAft>
            </a:pPr>
            <a:r>
              <a:rPr sz="2000" b="1" i="0">
                <a:solidFill>
                  <a:srgbClr val="2563EB"/>
                </a:solidFill>
                <a:latin typeface="Calibri"/>
              </a:rPr>
              <a:t>•  </a:t>
            </a:r>
            <a:r>
              <a:rPr sz="2000" b="0" i="0">
                <a:solidFill>
                  <a:srgbClr val="1F2937"/>
                </a:solidFill>
                <a:latin typeface="Calibri"/>
              </a:rPr>
              <a:t>One bad edit can break the whole file.</a:t>
            </a:r>
          </a:p>
          <a:p>
            <a:pPr>
              <a:spcBef>
                <a:spcPts val="0"/>
              </a:spcBef>
              <a:spcAft>
                <a:spcPts val="600"/>
              </a:spcAft>
            </a:pPr>
            <a:r>
              <a:rPr sz="2000" b="1" i="0">
                <a:solidFill>
                  <a:srgbClr val="2563EB"/>
                </a:solidFill>
                <a:latin typeface="Calibri"/>
              </a:rPr>
              <a:t>•  </a:t>
            </a:r>
            <a:r>
              <a:rPr sz="2000" b="0" i="0">
                <a:solidFill>
                  <a:srgbClr val="1F2937"/>
                </a:solidFill>
                <a:latin typeface="Calibri"/>
              </a:rPr>
              <a:t>So nobody dares to touch it.</a:t>
            </a:r>
          </a:p>
          <a:p>
            <a:pPr>
              <a:spcBef>
                <a:spcPts val="0"/>
              </a:spcBef>
              <a:spcAft>
                <a:spcPts val="600"/>
              </a:spcAft>
            </a:pPr>
            <a:r>
              <a:rPr sz="2000" b="1" i="0">
                <a:solidFill>
                  <a:srgbClr val="2563EB"/>
                </a:solidFill>
                <a:latin typeface="Calibri"/>
              </a:rPr>
              <a:t>•  </a:t>
            </a:r>
            <a:r>
              <a:rPr sz="2000" b="0" i="0">
                <a:solidFill>
                  <a:srgbClr val="1F2937"/>
                </a:solidFill>
                <a:latin typeface="Calibri"/>
              </a:rPr>
              <a:t>Tutors cannot add or fix exercises on their own.</a:t>
            </a:r>
          </a:p>
        </p:txBody>
      </p:sp>
      <p:pic>
        <p:nvPicPr>
          <p:cNvPr id="9" name="Picture 8" descr="problem.png"/>
          <p:cNvPicPr>
            <a:picLocks noChangeAspect="1"/>
          </p:cNvPicPr>
          <p:nvPr/>
        </p:nvPicPr>
        <p:blipFill>
          <a:blip r:embed="rId2"/>
          <a:stretch>
            <a:fillRect/>
          </a:stretch>
        </p:blipFill>
        <p:spPr>
          <a:xfrm>
            <a:off x="2796787" y="3520440"/>
            <a:ext cx="6598121" cy="26974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2 — THE SOLUTION AND THE APPROACH</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The Solution at a Glance</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3</a:t>
            </a:r>
          </a:p>
        </p:txBody>
      </p:sp>
      <p:sp>
        <p:nvSpPr>
          <p:cNvPr id="8" name="TextBox 7"/>
          <p:cNvSpPr txBox="1"/>
          <p:nvPr/>
        </p:nvSpPr>
        <p:spPr>
          <a:xfrm>
            <a:off x="502920" y="1600200"/>
            <a:ext cx="11183112" cy="1828800"/>
          </a:xfrm>
          <a:prstGeom prst="rect">
            <a:avLst/>
          </a:prstGeom>
          <a:noFill/>
        </p:spPr>
        <p:txBody>
          <a:bodyPr wrap="square" lIns="0" rIns="0" tIns="0" bIns="0">
            <a:spAutoFit/>
          </a:bodyPr>
          <a:lstStyle/>
          <a:p>
            <a:pPr>
              <a:spcBef>
                <a:spcPts val="0"/>
              </a:spcBef>
              <a:spcAft>
                <a:spcPts val="600"/>
              </a:spcAft>
            </a:pPr>
            <a:r>
              <a:rPr sz="1900" b="1" i="0">
                <a:solidFill>
                  <a:srgbClr val="2563EB"/>
                </a:solidFill>
                <a:latin typeface="Calibri"/>
              </a:rPr>
              <a:t>•  </a:t>
            </a:r>
            <a:r>
              <a:rPr sz="1900" b="0" i="0">
                <a:solidFill>
                  <a:srgbClr val="1F2937"/>
                </a:solidFill>
                <a:latin typeface="Calibri"/>
              </a:rPr>
              <a:t>A new, standalone platform. It runs apart from OLE.</a:t>
            </a:r>
          </a:p>
          <a:p>
            <a:pPr>
              <a:spcBef>
                <a:spcPts val="0"/>
              </a:spcBef>
              <a:spcAft>
                <a:spcPts val="600"/>
              </a:spcAft>
            </a:pPr>
            <a:r>
              <a:rPr sz="1900" b="1" i="0">
                <a:solidFill>
                  <a:srgbClr val="2563EB"/>
                </a:solidFill>
                <a:latin typeface="Calibri"/>
              </a:rPr>
              <a:t>•  </a:t>
            </a:r>
            <a:r>
              <a:rPr sz="1900" b="0" i="0">
                <a:solidFill>
                  <a:srgbClr val="1F2937"/>
                </a:solidFill>
                <a:latin typeface="Calibri"/>
              </a:rPr>
              <a:t>Three roles: Student, Tutor, Super Admin.</a:t>
            </a:r>
          </a:p>
          <a:p>
            <a:pPr>
              <a:spcBef>
                <a:spcPts val="0"/>
              </a:spcBef>
              <a:spcAft>
                <a:spcPts val="600"/>
              </a:spcAft>
            </a:pPr>
            <a:r>
              <a:rPr sz="1900" b="1" i="0">
                <a:solidFill>
                  <a:srgbClr val="2563EB"/>
                </a:solidFill>
                <a:latin typeface="Calibri"/>
              </a:rPr>
              <a:t>•  </a:t>
            </a:r>
            <a:r>
              <a:rPr sz="1900" b="0" i="0">
                <a:solidFill>
                  <a:srgbClr val="1F2937"/>
                </a:solidFill>
                <a:latin typeface="Calibri"/>
              </a:rPr>
              <a:t>Exercises use Blockly. Students drag blocks to write code.</a:t>
            </a:r>
          </a:p>
          <a:p>
            <a:pPr>
              <a:spcBef>
                <a:spcPts val="0"/>
              </a:spcBef>
              <a:spcAft>
                <a:spcPts val="600"/>
              </a:spcAft>
            </a:pPr>
            <a:r>
              <a:rPr sz="1900" b="1" i="0">
                <a:solidFill>
                  <a:srgbClr val="2563EB"/>
                </a:solidFill>
                <a:latin typeface="Calibri"/>
              </a:rPr>
              <a:t>•  </a:t>
            </a:r>
            <a:r>
              <a:rPr sz="1900" b="0" i="0">
                <a:solidFill>
                  <a:srgbClr val="1F2937"/>
                </a:solidFill>
                <a:latin typeface="Calibri"/>
              </a:rPr>
              <a:t>Block-based coding is a proven way to teach programming [4][8][11].</a:t>
            </a:r>
          </a:p>
          <a:p>
            <a:pPr>
              <a:spcBef>
                <a:spcPts val="0"/>
              </a:spcBef>
              <a:spcAft>
                <a:spcPts val="600"/>
              </a:spcAft>
            </a:pPr>
            <a:r>
              <a:rPr sz="1900" b="1" i="0">
                <a:solidFill>
                  <a:srgbClr val="2563EB"/>
                </a:solidFill>
                <a:latin typeface="Calibri"/>
              </a:rPr>
              <a:t>•  </a:t>
            </a:r>
            <a:r>
              <a:rPr sz="1900" b="0" i="0">
                <a:solidFill>
                  <a:srgbClr val="1F2937"/>
                </a:solidFill>
                <a:latin typeface="Calibri"/>
              </a:rPr>
              <a:t>Grading is decoupled. Students export. Tutors import and grade.</a:t>
            </a:r>
          </a:p>
        </p:txBody>
      </p:sp>
      <p:pic>
        <p:nvPicPr>
          <p:cNvPr id="9" name="Picture 8" descr="roles.png"/>
          <p:cNvPicPr>
            <a:picLocks noChangeAspect="1"/>
          </p:cNvPicPr>
          <p:nvPr/>
        </p:nvPicPr>
        <p:blipFill>
          <a:blip r:embed="rId2"/>
          <a:stretch>
            <a:fillRect/>
          </a:stretch>
        </p:blipFill>
        <p:spPr>
          <a:xfrm>
            <a:off x="2555711" y="3429000"/>
            <a:ext cx="7080273" cy="27889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2 — THE SOLUTION AND THE APPROACH</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Why We Needed a Real Process</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4</a:t>
            </a:r>
          </a:p>
        </p:txBody>
      </p:sp>
      <p:sp>
        <p:nvSpPr>
          <p:cNvPr id="8" name="TextBox 7"/>
          <p:cNvSpPr txBox="1"/>
          <p:nvPr/>
        </p:nvSpPr>
        <p:spPr>
          <a:xfrm>
            <a:off x="502920" y="1600200"/>
            <a:ext cx="11183112" cy="1828800"/>
          </a:xfrm>
          <a:prstGeom prst="rect">
            <a:avLst/>
          </a:prstGeom>
          <a:noFill/>
        </p:spPr>
        <p:txBody>
          <a:bodyPr wrap="square" lIns="0" rIns="0" tIns="0" bIns="0">
            <a:spAutoFit/>
          </a:bodyPr>
          <a:lstStyle/>
          <a:p>
            <a:pPr>
              <a:spcBef>
                <a:spcPts val="0"/>
              </a:spcBef>
              <a:spcAft>
                <a:spcPts val="600"/>
              </a:spcAft>
            </a:pPr>
            <a:r>
              <a:rPr sz="1900" b="1" i="0">
                <a:solidFill>
                  <a:srgbClr val="2563EB"/>
                </a:solidFill>
                <a:latin typeface="Calibri"/>
              </a:rPr>
              <a:t>•  </a:t>
            </a:r>
            <a:r>
              <a:rPr sz="1900" b="0" i="0">
                <a:solidFill>
                  <a:srgbClr val="1F2937"/>
                </a:solidFill>
                <a:latin typeface="Calibri"/>
              </a:rPr>
              <a:t>The first attempt was pure “vibe coding” over chat.</a:t>
            </a:r>
          </a:p>
          <a:p>
            <a:pPr>
              <a:spcBef>
                <a:spcPts val="0"/>
              </a:spcBef>
              <a:spcAft>
                <a:spcPts val="600"/>
              </a:spcAft>
            </a:pPr>
            <a:r>
              <a:rPr sz="1900" b="1" i="0">
                <a:solidFill>
                  <a:srgbClr val="2563EB"/>
                </a:solidFill>
                <a:latin typeface="Calibri"/>
              </a:rPr>
              <a:t>•  </a:t>
            </a:r>
            <a:r>
              <a:rPr sz="1900" b="0" i="0">
                <a:solidFill>
                  <a:srgbClr val="1F2937"/>
                </a:solidFill>
                <a:latin typeface="Calibri"/>
              </a:rPr>
              <a:t>No plan. No design. No review.</a:t>
            </a:r>
          </a:p>
          <a:p>
            <a:pPr>
              <a:spcBef>
                <a:spcPts val="0"/>
              </a:spcBef>
              <a:spcAft>
                <a:spcPts val="600"/>
              </a:spcAft>
            </a:pPr>
            <a:r>
              <a:rPr sz="1900" b="1" i="0">
                <a:solidFill>
                  <a:srgbClr val="2563EB"/>
                </a:solidFill>
                <a:latin typeface="Calibri"/>
              </a:rPr>
              <a:t>•  </a:t>
            </a:r>
            <a:r>
              <a:rPr sz="1900" b="0" i="0">
                <a:solidFill>
                  <a:srgbClr val="1F2937"/>
                </a:solidFill>
                <a:latin typeface="Calibri"/>
              </a:rPr>
              <a:t>It worked for small changes. It broke as the project grew.</a:t>
            </a:r>
          </a:p>
          <a:p>
            <a:pPr>
              <a:spcBef>
                <a:spcPts val="0"/>
              </a:spcBef>
              <a:spcAft>
                <a:spcPts val="600"/>
              </a:spcAft>
            </a:pPr>
            <a:r>
              <a:rPr sz="1900" b="1" i="0">
                <a:solidFill>
                  <a:srgbClr val="2563EB"/>
                </a:solidFill>
                <a:latin typeface="Calibri"/>
              </a:rPr>
              <a:t>•  </a:t>
            </a:r>
            <a:r>
              <a:rPr sz="1900" b="0" i="0">
                <a:solidFill>
                  <a:srgbClr val="1F2937"/>
                </a:solidFill>
                <a:latin typeface="Calibri"/>
              </a:rPr>
              <a:t>One fix often caused new bugs. Progress stalled.</a:t>
            </a:r>
          </a:p>
          <a:p>
            <a:pPr>
              <a:spcBef>
                <a:spcPts val="0"/>
              </a:spcBef>
              <a:spcAft>
                <a:spcPts val="600"/>
              </a:spcAft>
            </a:pPr>
            <a:r>
              <a:rPr sz="1900" b="1" i="0">
                <a:solidFill>
                  <a:srgbClr val="2563EB"/>
                </a:solidFill>
                <a:latin typeface="Calibri"/>
              </a:rPr>
              <a:t>•  </a:t>
            </a:r>
            <a:r>
              <a:rPr sz="1900" b="0" i="0">
                <a:solidFill>
                  <a:srgbClr val="1F2937"/>
                </a:solidFill>
                <a:latin typeface="Calibri"/>
              </a:rPr>
              <a:t>The lesson: the AI can write code. It needs a process [12].</a:t>
            </a:r>
          </a:p>
        </p:txBody>
      </p:sp>
      <p:pic>
        <p:nvPicPr>
          <p:cNvPr id="9" name="Picture 8" descr="twophase.png"/>
          <p:cNvPicPr>
            <a:picLocks noChangeAspect="1"/>
          </p:cNvPicPr>
          <p:nvPr/>
        </p:nvPicPr>
        <p:blipFill>
          <a:blip r:embed="rId2"/>
          <a:stretch>
            <a:fillRect/>
          </a:stretch>
        </p:blipFill>
        <p:spPr>
          <a:xfrm>
            <a:off x="2597250" y="3566160"/>
            <a:ext cx="6997195" cy="2651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3 — THE SYSTEM (HOW IT WORKS)</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System Overview</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5</a:t>
            </a:r>
          </a:p>
        </p:txBody>
      </p:sp>
      <p:sp>
        <p:nvSpPr>
          <p:cNvPr id="8" name="TextBox 7"/>
          <p:cNvSpPr txBox="1"/>
          <p:nvPr/>
        </p:nvSpPr>
        <p:spPr>
          <a:xfrm>
            <a:off x="502920" y="1600200"/>
            <a:ext cx="11183112" cy="1188720"/>
          </a:xfrm>
          <a:prstGeom prst="rect">
            <a:avLst/>
          </a:prstGeom>
          <a:noFill/>
        </p:spPr>
        <p:txBody>
          <a:bodyPr wrap="square" lIns="0" rIns="0" tIns="0" bIns="0">
            <a:spAutoFit/>
          </a:bodyPr>
          <a:lstStyle/>
          <a:p>
            <a:pPr>
              <a:spcBef>
                <a:spcPts val="0"/>
              </a:spcBef>
              <a:spcAft>
                <a:spcPts val="600"/>
              </a:spcAft>
            </a:pPr>
            <a:r>
              <a:rPr sz="2000" b="1" i="0">
                <a:solidFill>
                  <a:srgbClr val="2563EB"/>
                </a:solidFill>
                <a:latin typeface="Calibri"/>
              </a:rPr>
              <a:t>•  </a:t>
            </a:r>
            <a:r>
              <a:rPr sz="2000" b="0" i="0">
                <a:solidFill>
                  <a:srgbClr val="1F2937"/>
                </a:solidFill>
                <a:latin typeface="Calibri"/>
              </a:rPr>
              <a:t>Nginx serves the site. Spring Boot runs the API. MySQL stores data.</a:t>
            </a:r>
          </a:p>
          <a:p>
            <a:pPr>
              <a:spcBef>
                <a:spcPts val="0"/>
              </a:spcBef>
              <a:spcAft>
                <a:spcPts val="600"/>
              </a:spcAft>
            </a:pPr>
            <a:r>
              <a:rPr sz="2000" b="1" i="0">
                <a:solidFill>
                  <a:srgbClr val="2563EB"/>
                </a:solidFill>
                <a:latin typeface="Calibri"/>
              </a:rPr>
              <a:t>•  </a:t>
            </a:r>
            <a:r>
              <a:rPr sz="2000" b="0" i="0">
                <a:solidFill>
                  <a:srgbClr val="1F2937"/>
                </a:solidFill>
                <a:latin typeface="Calibri"/>
              </a:rPr>
              <a:t>Blockly answers are graded on the server, safely.</a:t>
            </a:r>
          </a:p>
          <a:p>
            <a:pPr>
              <a:spcBef>
                <a:spcPts val="0"/>
              </a:spcBef>
              <a:spcAft>
                <a:spcPts val="600"/>
              </a:spcAft>
            </a:pPr>
            <a:r>
              <a:rPr sz="2000" b="1" i="0">
                <a:solidFill>
                  <a:srgbClr val="2563EB"/>
                </a:solidFill>
                <a:latin typeface="Calibri"/>
              </a:rPr>
              <a:t>•  </a:t>
            </a:r>
            <a:r>
              <a:rPr sz="2000" b="0" i="0">
                <a:solidFill>
                  <a:srgbClr val="1F2937"/>
                </a:solidFill>
                <a:latin typeface="Calibri"/>
              </a:rPr>
              <a:t>It all runs on one server with Docker [10].</a:t>
            </a:r>
          </a:p>
        </p:txBody>
      </p:sp>
      <p:pic>
        <p:nvPicPr>
          <p:cNvPr id="9" name="Picture 8" descr="architecture.png"/>
          <p:cNvPicPr>
            <a:picLocks noChangeAspect="1"/>
          </p:cNvPicPr>
          <p:nvPr/>
        </p:nvPicPr>
        <p:blipFill>
          <a:blip r:embed="rId2"/>
          <a:stretch>
            <a:fillRect/>
          </a:stretch>
        </p:blipFill>
        <p:spPr>
          <a:xfrm>
            <a:off x="2135386" y="2788920"/>
            <a:ext cx="7920922" cy="34747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3 — THE SYSTEM (HOW IT WORKS)</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Student: Practice an Exercise</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6</a:t>
            </a:r>
          </a:p>
        </p:txBody>
      </p:sp>
      <p:sp>
        <p:nvSpPr>
          <p:cNvPr id="8" name="TextBox 7"/>
          <p:cNvSpPr txBox="1"/>
          <p:nvPr/>
        </p:nvSpPr>
        <p:spPr>
          <a:xfrm>
            <a:off x="502920" y="1645920"/>
            <a:ext cx="5486400" cy="4389120"/>
          </a:xfrm>
          <a:prstGeom prst="rect">
            <a:avLst/>
          </a:prstGeom>
          <a:noFill/>
        </p:spPr>
        <p:txBody>
          <a:bodyPr wrap="square" lIns="0" rIns="0" tIns="0" bIns="0">
            <a:spAutoFit/>
          </a:bodyPr>
          <a:lstStyle/>
          <a:p>
            <a:pPr>
              <a:spcBef>
                <a:spcPts val="0"/>
              </a:spcBef>
              <a:spcAft>
                <a:spcPts val="1000"/>
              </a:spcAft>
            </a:pPr>
            <a:r>
              <a:rPr sz="1900" b="1" i="0">
                <a:solidFill>
                  <a:srgbClr val="2563EB"/>
                </a:solidFill>
                <a:latin typeface="Calibri"/>
              </a:rPr>
              <a:t>•  </a:t>
            </a:r>
            <a:r>
              <a:rPr sz="1900" b="0" i="0">
                <a:solidFill>
                  <a:srgbClr val="1F2937"/>
                </a:solidFill>
                <a:latin typeface="Calibri"/>
              </a:rPr>
              <a:t>The student opens a published exercise.</a:t>
            </a:r>
          </a:p>
          <a:p>
            <a:pPr>
              <a:spcBef>
                <a:spcPts val="0"/>
              </a:spcBef>
              <a:spcAft>
                <a:spcPts val="1000"/>
              </a:spcAft>
            </a:pPr>
            <a:r>
              <a:rPr sz="1900" b="1" i="0">
                <a:solidFill>
                  <a:srgbClr val="2563EB"/>
                </a:solidFill>
                <a:latin typeface="Calibri"/>
              </a:rPr>
              <a:t>•  </a:t>
            </a:r>
            <a:r>
              <a:rPr sz="1900" b="0" i="0">
                <a:solidFill>
                  <a:srgbClr val="1F2937"/>
                </a:solidFill>
                <a:latin typeface="Calibri"/>
              </a:rPr>
              <a:t>They drag blocks to build a solution.</a:t>
            </a:r>
          </a:p>
          <a:p>
            <a:pPr>
              <a:spcBef>
                <a:spcPts val="0"/>
              </a:spcBef>
              <a:spcAft>
                <a:spcPts val="1000"/>
              </a:spcAft>
            </a:pPr>
            <a:r>
              <a:rPr sz="1900" b="1" i="0">
                <a:solidFill>
                  <a:srgbClr val="2563EB"/>
                </a:solidFill>
                <a:latin typeface="Calibri"/>
              </a:rPr>
              <a:t>•  </a:t>
            </a:r>
            <a:r>
              <a:rPr sz="1900" b="0" i="0">
                <a:solidFill>
                  <a:srgbClr val="1F2937"/>
                </a:solidFill>
                <a:latin typeface="Calibri"/>
              </a:rPr>
              <a:t>They click Run. The code runs in the browser, safely.</a:t>
            </a:r>
          </a:p>
          <a:p>
            <a:pPr>
              <a:spcBef>
                <a:spcPts val="0"/>
              </a:spcBef>
              <a:spcAft>
                <a:spcPts val="1000"/>
              </a:spcAft>
            </a:pPr>
            <a:r>
              <a:rPr sz="1900" b="1" i="0">
                <a:solidFill>
                  <a:srgbClr val="2563EB"/>
                </a:solidFill>
                <a:latin typeface="Calibri"/>
              </a:rPr>
              <a:t>•  </a:t>
            </a:r>
            <a:r>
              <a:rPr sz="1900" b="0" i="0">
                <a:solidFill>
                  <a:srgbClr val="1F2937"/>
                </a:solidFill>
                <a:latin typeface="Calibri"/>
              </a:rPr>
              <a:t>They see the result right away.</a:t>
            </a:r>
          </a:p>
          <a:p>
            <a:pPr>
              <a:spcBef>
                <a:spcPts val="0"/>
              </a:spcBef>
              <a:spcAft>
                <a:spcPts val="1000"/>
              </a:spcAft>
            </a:pPr>
            <a:r>
              <a:rPr sz="1900" b="1" i="0">
                <a:solidFill>
                  <a:srgbClr val="2563EB"/>
                </a:solidFill>
                <a:latin typeface="Calibri"/>
              </a:rPr>
              <a:t>•  </a:t>
            </a:r>
            <a:r>
              <a:rPr sz="1900" b="0" i="0">
                <a:solidFill>
                  <a:srgbClr val="1F2937"/>
                </a:solidFill>
                <a:latin typeface="Calibri"/>
              </a:rPr>
              <a:t>When done, they export their answer to a file.</a:t>
            </a:r>
          </a:p>
        </p:txBody>
      </p:sp>
      <p:sp>
        <p:nvSpPr>
          <p:cNvPr id="9" name="Rounded Rectangle 8"/>
          <p:cNvSpPr/>
          <p:nvPr/>
        </p:nvSpPr>
        <p:spPr>
          <a:xfrm>
            <a:off x="6309360" y="1691640"/>
            <a:ext cx="5394960" cy="4297680"/>
          </a:xfrm>
          <a:prstGeom prst="roundRect">
            <a:avLst/>
          </a:prstGeom>
          <a:solidFill>
            <a:srgbClr val="F3F4F6"/>
          </a:solidFill>
          <a:ln w="1905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6B7280"/>
                </a:solidFill>
                <a:latin typeface="Calibri"/>
              </a:rPr>
              <a:t>SCREENSHOT</a:t>
            </a:r>
          </a:p>
          <a:p>
            <a:pPr algn="ctr"/>
            <a:r>
              <a:rPr sz="1500" b="1" i="0">
                <a:solidFill>
                  <a:srgbClr val="6B7280"/>
                </a:solidFill>
                <a:latin typeface="Calibri"/>
              </a:rPr>
              <a:t>Student Blockly workspace + run result</a:t>
            </a:r>
          </a:p>
          <a:p>
            <a:pPr algn="ctr"/>
            <a:r>
              <a:rPr sz="1100" b="0" i="1">
                <a:solidFill>
                  <a:srgbClr val="6B7280"/>
                </a:solidFill>
                <a:latin typeface="Calibri"/>
              </a:rPr>
              <a:t>(capture and drop in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3 — THE SYSTEM (HOW IT WORKS)</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Tutor: Create and Publish Exercises</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7</a:t>
            </a:r>
          </a:p>
        </p:txBody>
      </p:sp>
      <p:sp>
        <p:nvSpPr>
          <p:cNvPr id="8" name="TextBox 7"/>
          <p:cNvSpPr txBox="1"/>
          <p:nvPr/>
        </p:nvSpPr>
        <p:spPr>
          <a:xfrm>
            <a:off x="502920" y="1645920"/>
            <a:ext cx="5486400" cy="4389120"/>
          </a:xfrm>
          <a:prstGeom prst="rect">
            <a:avLst/>
          </a:prstGeom>
          <a:noFill/>
        </p:spPr>
        <p:txBody>
          <a:bodyPr wrap="square" lIns="0" rIns="0" tIns="0" bIns="0">
            <a:spAutoFit/>
          </a:bodyPr>
          <a:lstStyle/>
          <a:p>
            <a:pPr>
              <a:spcBef>
                <a:spcPts val="0"/>
              </a:spcBef>
              <a:spcAft>
                <a:spcPts val="1000"/>
              </a:spcAft>
            </a:pPr>
            <a:r>
              <a:rPr sz="1900" b="1" i="0">
                <a:solidFill>
                  <a:srgbClr val="2563EB"/>
                </a:solidFill>
                <a:latin typeface="Calibri"/>
              </a:rPr>
              <a:t>•  </a:t>
            </a:r>
            <a:r>
              <a:rPr sz="1900" b="0" i="0">
                <a:solidFill>
                  <a:srgbClr val="1F2937"/>
                </a:solidFill>
                <a:latin typeface="Calibri"/>
              </a:rPr>
              <a:t>The tutor creates a new exercise. They set the task and the blocks.</a:t>
            </a:r>
          </a:p>
          <a:p>
            <a:pPr>
              <a:spcBef>
                <a:spcPts val="0"/>
              </a:spcBef>
              <a:spcAft>
                <a:spcPts val="1000"/>
              </a:spcAft>
            </a:pPr>
            <a:r>
              <a:rPr sz="1900" b="1" i="0">
                <a:solidFill>
                  <a:srgbClr val="2563EB"/>
                </a:solidFill>
                <a:latin typeface="Calibri"/>
              </a:rPr>
              <a:t>•  </a:t>
            </a:r>
            <a:r>
              <a:rPr sz="1900" b="0" i="0">
                <a:solidFill>
                  <a:srgbClr val="1F2937"/>
                </a:solidFill>
                <a:latin typeface="Calibri"/>
              </a:rPr>
              <a:t>They can edit and publish it.</a:t>
            </a:r>
          </a:p>
          <a:p>
            <a:pPr>
              <a:spcBef>
                <a:spcPts val="0"/>
              </a:spcBef>
              <a:spcAft>
                <a:spcPts val="1000"/>
              </a:spcAft>
            </a:pPr>
            <a:r>
              <a:rPr sz="1900" b="1" i="0">
                <a:solidFill>
                  <a:srgbClr val="2563EB"/>
                </a:solidFill>
                <a:latin typeface="Calibri"/>
              </a:rPr>
              <a:t>•  </a:t>
            </a:r>
            <a:r>
              <a:rPr sz="1900" b="0" i="0">
                <a:solidFill>
                  <a:srgbClr val="1F2937"/>
                </a:solidFill>
                <a:latin typeface="Calibri"/>
              </a:rPr>
              <a:t>Every edit saves a new version. Old versions are never lost.</a:t>
            </a:r>
          </a:p>
          <a:p>
            <a:pPr>
              <a:spcBef>
                <a:spcPts val="0"/>
              </a:spcBef>
              <a:spcAft>
                <a:spcPts val="1000"/>
              </a:spcAft>
            </a:pPr>
            <a:r>
              <a:rPr sz="1900" b="1" i="0">
                <a:solidFill>
                  <a:srgbClr val="2563EB"/>
                </a:solidFill>
                <a:latin typeface="Calibri"/>
              </a:rPr>
              <a:t>•  </a:t>
            </a:r>
            <a:r>
              <a:rPr sz="1900" b="0" i="0">
                <a:solidFill>
                  <a:srgbClr val="1F2937"/>
                </a:solidFill>
                <a:latin typeface="Calibri"/>
              </a:rPr>
              <a:t>Rollback is easy. Just point back to an old version.</a:t>
            </a:r>
          </a:p>
        </p:txBody>
      </p:sp>
      <p:sp>
        <p:nvSpPr>
          <p:cNvPr id="9" name="Rounded Rectangle 8"/>
          <p:cNvSpPr/>
          <p:nvPr/>
        </p:nvSpPr>
        <p:spPr>
          <a:xfrm>
            <a:off x="6309360" y="1691640"/>
            <a:ext cx="5394960" cy="4297680"/>
          </a:xfrm>
          <a:prstGeom prst="roundRect">
            <a:avLst/>
          </a:prstGeom>
          <a:solidFill>
            <a:srgbClr val="F3F4F6"/>
          </a:solidFill>
          <a:ln w="1905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6B7280"/>
                </a:solidFill>
                <a:latin typeface="Calibri"/>
              </a:rPr>
              <a:t>SCREENSHOT</a:t>
            </a:r>
          </a:p>
          <a:p>
            <a:pPr algn="ctr"/>
            <a:r>
              <a:rPr sz="1500" b="1" i="0">
                <a:solidFill>
                  <a:srgbClr val="6B7280"/>
                </a:solidFill>
                <a:latin typeface="Calibri"/>
              </a:rPr>
              <a:t>Exercise editor + version list</a:t>
            </a:r>
          </a:p>
          <a:p>
            <a:pPr algn="ctr"/>
            <a:r>
              <a:rPr sz="1100" b="0" i="1">
                <a:solidFill>
                  <a:srgbClr val="6B7280"/>
                </a:solidFill>
                <a:latin typeface="Calibri"/>
              </a:rPr>
              <a:t>(capture and drop in 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3 — THE SYSTEM (HOW IT WORKS)</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Tutor: Organize Courses and Categories</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8</a:t>
            </a:r>
          </a:p>
        </p:txBody>
      </p:sp>
      <p:sp>
        <p:nvSpPr>
          <p:cNvPr id="8" name="TextBox 7"/>
          <p:cNvSpPr txBox="1"/>
          <p:nvPr/>
        </p:nvSpPr>
        <p:spPr>
          <a:xfrm>
            <a:off x="502920" y="1645920"/>
            <a:ext cx="5486400" cy="4389120"/>
          </a:xfrm>
          <a:prstGeom prst="rect">
            <a:avLst/>
          </a:prstGeom>
          <a:noFill/>
        </p:spPr>
        <p:txBody>
          <a:bodyPr wrap="square" lIns="0" rIns="0" tIns="0" bIns="0">
            <a:spAutoFit/>
          </a:bodyPr>
          <a:lstStyle/>
          <a:p>
            <a:pPr>
              <a:spcBef>
                <a:spcPts val="0"/>
              </a:spcBef>
              <a:spcAft>
                <a:spcPts val="1000"/>
              </a:spcAft>
            </a:pPr>
            <a:r>
              <a:rPr sz="1900" b="1" i="0">
                <a:solidFill>
                  <a:srgbClr val="2563EB"/>
                </a:solidFill>
                <a:latin typeface="Calibri"/>
              </a:rPr>
              <a:t>•  </a:t>
            </a:r>
            <a:r>
              <a:rPr sz="1900" b="0" i="0">
                <a:solidFill>
                  <a:srgbClr val="1F2937"/>
                </a:solidFill>
                <a:latin typeface="Calibri"/>
              </a:rPr>
              <a:t>The tutor groups exercises into courses.</a:t>
            </a:r>
          </a:p>
          <a:p>
            <a:pPr>
              <a:spcBef>
                <a:spcPts val="0"/>
              </a:spcBef>
              <a:spcAft>
                <a:spcPts val="1000"/>
              </a:spcAft>
            </a:pPr>
            <a:r>
              <a:rPr sz="1900" b="1" i="0">
                <a:solidFill>
                  <a:srgbClr val="2563EB"/>
                </a:solidFill>
                <a:latin typeface="Calibri"/>
              </a:rPr>
              <a:t>•  </a:t>
            </a:r>
            <a:r>
              <a:rPr sz="1900" b="0" i="0">
                <a:solidFill>
                  <a:srgbClr val="1F2937"/>
                </a:solidFill>
                <a:latin typeface="Calibri"/>
              </a:rPr>
              <a:t>Categories keep exercises tidy.</a:t>
            </a:r>
          </a:p>
          <a:p>
            <a:pPr>
              <a:spcBef>
                <a:spcPts val="0"/>
              </a:spcBef>
              <a:spcAft>
                <a:spcPts val="1000"/>
              </a:spcAft>
            </a:pPr>
            <a:r>
              <a:rPr sz="1900" b="1" i="0">
                <a:solidFill>
                  <a:srgbClr val="2563EB"/>
                </a:solidFill>
                <a:latin typeface="Calibri"/>
              </a:rPr>
              <a:t>•  </a:t>
            </a:r>
            <a:r>
              <a:rPr sz="1900" b="0" i="0">
                <a:solidFill>
                  <a:srgbClr val="1F2937"/>
                </a:solidFill>
                <a:latin typeface="Calibri"/>
              </a:rPr>
              <a:t>Tutors assign exercises to a course.</a:t>
            </a:r>
          </a:p>
          <a:p>
            <a:pPr>
              <a:spcBef>
                <a:spcPts val="0"/>
              </a:spcBef>
              <a:spcAft>
                <a:spcPts val="1000"/>
              </a:spcAft>
            </a:pPr>
            <a:r>
              <a:rPr sz="1900" b="1" i="0">
                <a:solidFill>
                  <a:srgbClr val="2563EB"/>
                </a:solidFill>
                <a:latin typeface="Calibri"/>
              </a:rPr>
              <a:t>•  </a:t>
            </a:r>
            <a:r>
              <a:rPr sz="1900" b="0" i="0">
                <a:solidFill>
                  <a:srgbClr val="1F2937"/>
                </a:solidFill>
                <a:latin typeface="Calibri"/>
              </a:rPr>
              <a:t>They pick which students see them.</a:t>
            </a:r>
          </a:p>
        </p:txBody>
      </p:sp>
      <p:sp>
        <p:nvSpPr>
          <p:cNvPr id="9" name="Rounded Rectangle 8"/>
          <p:cNvSpPr/>
          <p:nvPr/>
        </p:nvSpPr>
        <p:spPr>
          <a:xfrm>
            <a:off x="6309360" y="1691640"/>
            <a:ext cx="5394960" cy="4297680"/>
          </a:xfrm>
          <a:prstGeom prst="roundRect">
            <a:avLst/>
          </a:prstGeom>
          <a:solidFill>
            <a:srgbClr val="F3F4F6"/>
          </a:solidFill>
          <a:ln w="1905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6B7280"/>
                </a:solidFill>
                <a:latin typeface="Calibri"/>
              </a:rPr>
              <a:t>SCREENSHOT</a:t>
            </a:r>
          </a:p>
          <a:p>
            <a:pPr algn="ctr"/>
            <a:r>
              <a:rPr sz="1500" b="1" i="0">
                <a:solidFill>
                  <a:srgbClr val="6B7280"/>
                </a:solidFill>
                <a:latin typeface="Calibri"/>
              </a:rPr>
              <a:t>Course / category management view</a:t>
            </a:r>
          </a:p>
          <a:p>
            <a:pPr algn="ctr"/>
            <a:r>
              <a:rPr sz="1100" b="0" i="1">
                <a:solidFill>
                  <a:srgbClr val="6B7280"/>
                </a:solidFill>
                <a:latin typeface="Calibri"/>
              </a:rPr>
              <a:t>(capture and drop in 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3 — THE SYSTEM (HOW IT WORKS)</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The Core: Export / Import Grading</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9</a:t>
            </a:r>
          </a:p>
        </p:txBody>
      </p:sp>
      <p:sp>
        <p:nvSpPr>
          <p:cNvPr id="8" name="TextBox 7"/>
          <p:cNvSpPr txBox="1"/>
          <p:nvPr/>
        </p:nvSpPr>
        <p:spPr>
          <a:xfrm>
            <a:off x="502920" y="1600200"/>
            <a:ext cx="11183112" cy="1828800"/>
          </a:xfrm>
          <a:prstGeom prst="rect">
            <a:avLst/>
          </a:prstGeom>
          <a:noFill/>
        </p:spPr>
        <p:txBody>
          <a:bodyPr wrap="square" lIns="0" rIns="0" tIns="0" bIns="0">
            <a:spAutoFit/>
          </a:bodyPr>
          <a:lstStyle/>
          <a:p>
            <a:pPr>
              <a:spcBef>
                <a:spcPts val="0"/>
              </a:spcBef>
              <a:spcAft>
                <a:spcPts val="600"/>
              </a:spcAft>
            </a:pPr>
            <a:r>
              <a:rPr sz="1900" b="1" i="0">
                <a:solidFill>
                  <a:srgbClr val="2563EB"/>
                </a:solidFill>
                <a:latin typeface="Calibri"/>
              </a:rPr>
              <a:t>•  </a:t>
            </a:r>
            <a:r>
              <a:rPr sz="1900" b="0" i="0">
                <a:solidFill>
                  <a:srgbClr val="1F2937"/>
                </a:solidFill>
                <a:latin typeface="Calibri"/>
              </a:rPr>
              <a:t>This replaces the old OLE workflow.</a:t>
            </a:r>
          </a:p>
          <a:p>
            <a:pPr>
              <a:spcBef>
                <a:spcPts val="0"/>
              </a:spcBef>
              <a:spcAft>
                <a:spcPts val="600"/>
              </a:spcAft>
            </a:pPr>
            <a:r>
              <a:rPr sz="1900" b="1" i="0">
                <a:solidFill>
                  <a:srgbClr val="2563EB"/>
                </a:solidFill>
                <a:latin typeface="Calibri"/>
              </a:rPr>
              <a:t>•  </a:t>
            </a:r>
            <a:r>
              <a:rPr sz="1900" b="0" i="0">
                <a:solidFill>
                  <a:srgbClr val="1F2937"/>
                </a:solidFill>
                <a:latin typeface="Calibri"/>
              </a:rPr>
              <a:t>Student exports an answer. The tutor imports it.</a:t>
            </a:r>
          </a:p>
          <a:p>
            <a:pPr>
              <a:spcBef>
                <a:spcPts val="0"/>
              </a:spcBef>
              <a:spcAft>
                <a:spcPts val="600"/>
              </a:spcAft>
            </a:pPr>
            <a:r>
              <a:rPr sz="1900" b="1" i="0">
                <a:solidFill>
                  <a:srgbClr val="2563EB"/>
                </a:solidFill>
                <a:latin typeface="Calibri"/>
              </a:rPr>
              <a:t>•  </a:t>
            </a:r>
            <a:r>
              <a:rPr sz="1900" b="0" i="0">
                <a:solidFill>
                  <a:srgbClr val="1F2937"/>
                </a:solidFill>
                <a:latin typeface="Calibri"/>
              </a:rPr>
              <a:t>The system grades Blockly answers automatically, on the server.</a:t>
            </a:r>
          </a:p>
          <a:p>
            <a:pPr>
              <a:spcBef>
                <a:spcPts val="0"/>
              </a:spcBef>
              <a:spcAft>
                <a:spcPts val="600"/>
              </a:spcAft>
            </a:pPr>
            <a:r>
              <a:rPr sz="1900" b="1" i="0">
                <a:solidFill>
                  <a:srgbClr val="2563EB"/>
                </a:solidFill>
                <a:latin typeface="Calibri"/>
              </a:rPr>
              <a:t>•  </a:t>
            </a:r>
            <a:r>
              <a:rPr sz="1900" b="0" i="0">
                <a:solidFill>
                  <a:srgbClr val="1F2937"/>
                </a:solidFill>
                <a:latin typeface="Calibri"/>
              </a:rPr>
              <a:t>It flags duplicates. It flags version mismatches.</a:t>
            </a:r>
          </a:p>
          <a:p>
            <a:pPr>
              <a:spcBef>
                <a:spcPts val="0"/>
              </a:spcBef>
              <a:spcAft>
                <a:spcPts val="600"/>
              </a:spcAft>
            </a:pPr>
            <a:r>
              <a:rPr sz="1900" b="1" i="0">
                <a:solidFill>
                  <a:srgbClr val="2563EB"/>
                </a:solidFill>
                <a:latin typeface="Calibri"/>
              </a:rPr>
              <a:t>•  </a:t>
            </a:r>
            <a:r>
              <a:rPr sz="1900" b="0" i="0">
                <a:solidFill>
                  <a:srgbClr val="1F2937"/>
                </a:solidFill>
                <a:latin typeface="Calibri"/>
              </a:rPr>
              <a:t>Tutors can export the results to CSV.</a:t>
            </a:r>
          </a:p>
        </p:txBody>
      </p:sp>
      <p:pic>
        <p:nvPicPr>
          <p:cNvPr id="9" name="Picture 8" descr="grading_flow.png"/>
          <p:cNvPicPr>
            <a:picLocks noChangeAspect="1"/>
          </p:cNvPicPr>
          <p:nvPr/>
        </p:nvPicPr>
        <p:blipFill>
          <a:blip r:embed="rId2"/>
          <a:stretch>
            <a:fillRect/>
          </a:stretch>
        </p:blipFill>
        <p:spPr>
          <a:xfrm>
            <a:off x="2391020" y="3566160"/>
            <a:ext cx="7409655" cy="26974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3 — THE SYSTEM (HOW IT WORKS)</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Admin and Monitoring</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10</a:t>
            </a:r>
          </a:p>
        </p:txBody>
      </p:sp>
      <p:sp>
        <p:nvSpPr>
          <p:cNvPr id="8" name="TextBox 7"/>
          <p:cNvSpPr txBox="1"/>
          <p:nvPr/>
        </p:nvSpPr>
        <p:spPr>
          <a:xfrm>
            <a:off x="502920" y="1645920"/>
            <a:ext cx="5486400" cy="4389120"/>
          </a:xfrm>
          <a:prstGeom prst="rect">
            <a:avLst/>
          </a:prstGeom>
          <a:noFill/>
        </p:spPr>
        <p:txBody>
          <a:bodyPr wrap="square" lIns="0" rIns="0" tIns="0" bIns="0">
            <a:spAutoFit/>
          </a:bodyPr>
          <a:lstStyle/>
          <a:p>
            <a:pPr>
              <a:spcBef>
                <a:spcPts val="0"/>
              </a:spcBef>
              <a:spcAft>
                <a:spcPts val="1000"/>
              </a:spcAft>
            </a:pPr>
            <a:r>
              <a:rPr sz="1900" b="1" i="0">
                <a:solidFill>
                  <a:srgbClr val="2563EB"/>
                </a:solidFill>
                <a:latin typeface="Calibri"/>
              </a:rPr>
              <a:t>•  </a:t>
            </a:r>
            <a:r>
              <a:rPr sz="1900" b="0" i="0">
                <a:solidFill>
                  <a:srgbClr val="1F2937"/>
                </a:solidFill>
                <a:latin typeface="Calibri"/>
              </a:rPr>
              <a:t>Super Admin creates and manages user accounts.</a:t>
            </a:r>
          </a:p>
          <a:p>
            <a:pPr>
              <a:spcBef>
                <a:spcPts val="0"/>
              </a:spcBef>
              <a:spcAft>
                <a:spcPts val="1000"/>
              </a:spcAft>
            </a:pPr>
            <a:r>
              <a:rPr sz="1900" b="1" i="0">
                <a:solidFill>
                  <a:srgbClr val="2563EB"/>
                </a:solidFill>
                <a:latin typeface="Calibri"/>
              </a:rPr>
              <a:t>•  </a:t>
            </a:r>
            <a:r>
              <a:rPr sz="1900" b="0" i="0">
                <a:solidFill>
                  <a:srgbClr val="1F2937"/>
                </a:solidFill>
                <a:latin typeface="Calibri"/>
              </a:rPr>
              <a:t>Admin can disable a user. That user is locked out at once.</a:t>
            </a:r>
          </a:p>
          <a:p>
            <a:pPr>
              <a:spcBef>
                <a:spcPts val="0"/>
              </a:spcBef>
              <a:spcAft>
                <a:spcPts val="1000"/>
              </a:spcAft>
            </a:pPr>
            <a:r>
              <a:rPr sz="1900" b="1" i="0">
                <a:solidFill>
                  <a:srgbClr val="2563EB"/>
                </a:solidFill>
                <a:latin typeface="Calibri"/>
              </a:rPr>
              <a:t>•  </a:t>
            </a:r>
            <a:r>
              <a:rPr sz="1900" b="0" i="0">
                <a:solidFill>
                  <a:srgbClr val="1F2937"/>
                </a:solidFill>
                <a:latin typeface="Calibri"/>
              </a:rPr>
              <a:t>Grafana shows live health of the system [1].</a:t>
            </a:r>
          </a:p>
          <a:p>
            <a:pPr>
              <a:spcBef>
                <a:spcPts val="0"/>
              </a:spcBef>
              <a:spcAft>
                <a:spcPts val="1000"/>
              </a:spcAft>
            </a:pPr>
            <a:r>
              <a:rPr sz="1900" b="1" i="0">
                <a:solidFill>
                  <a:srgbClr val="2563EB"/>
                </a:solidFill>
                <a:latin typeface="Calibri"/>
              </a:rPr>
              <a:t>•  </a:t>
            </a:r>
            <a:r>
              <a:rPr sz="1900" b="0" i="0">
                <a:solidFill>
                  <a:srgbClr val="1F2937"/>
                </a:solidFill>
                <a:latin typeface="Calibri"/>
              </a:rPr>
              <a:t>Alerts fire if something breaks.</a:t>
            </a:r>
          </a:p>
        </p:txBody>
      </p:sp>
      <p:sp>
        <p:nvSpPr>
          <p:cNvPr id="9" name="Rounded Rectangle 8"/>
          <p:cNvSpPr/>
          <p:nvPr/>
        </p:nvSpPr>
        <p:spPr>
          <a:xfrm>
            <a:off x="6309360" y="1691640"/>
            <a:ext cx="5394960" cy="2011680"/>
          </a:xfrm>
          <a:prstGeom prst="roundRect">
            <a:avLst/>
          </a:prstGeom>
          <a:solidFill>
            <a:srgbClr val="F3F4F6"/>
          </a:solidFill>
          <a:ln w="1905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6B7280"/>
                </a:solidFill>
                <a:latin typeface="Calibri"/>
              </a:rPr>
              <a:t>SCREENSHOT</a:t>
            </a:r>
          </a:p>
          <a:p>
            <a:pPr algn="ctr"/>
            <a:r>
              <a:rPr sz="1500" b="1" i="0">
                <a:solidFill>
                  <a:srgbClr val="6B7280"/>
                </a:solidFill>
                <a:latin typeface="Calibri"/>
              </a:rPr>
              <a:t>Admin user list</a:t>
            </a:r>
          </a:p>
          <a:p>
            <a:pPr algn="ctr"/>
            <a:r>
              <a:rPr sz="1100" b="0" i="1">
                <a:solidFill>
                  <a:srgbClr val="6B7280"/>
                </a:solidFill>
                <a:latin typeface="Calibri"/>
              </a:rPr>
              <a:t>(capture and drop in here)</a:t>
            </a:r>
          </a:p>
        </p:txBody>
      </p:sp>
      <p:sp>
        <p:nvSpPr>
          <p:cNvPr id="10" name="Rounded Rectangle 9"/>
          <p:cNvSpPr/>
          <p:nvPr/>
        </p:nvSpPr>
        <p:spPr>
          <a:xfrm>
            <a:off x="6309360" y="3977639"/>
            <a:ext cx="5394960" cy="2011680"/>
          </a:xfrm>
          <a:prstGeom prst="roundRect">
            <a:avLst/>
          </a:prstGeom>
          <a:solidFill>
            <a:srgbClr val="F3F4F6"/>
          </a:solidFill>
          <a:ln w="1905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6B7280"/>
                </a:solidFill>
                <a:latin typeface="Calibri"/>
              </a:rPr>
              <a:t>SCREENSHOT</a:t>
            </a:r>
          </a:p>
          <a:p>
            <a:pPr algn="ctr"/>
            <a:r>
              <a:rPr sz="1500" b="1" i="0">
                <a:solidFill>
                  <a:srgbClr val="6B7280"/>
                </a:solidFill>
                <a:latin typeface="Calibri"/>
              </a:rPr>
              <a:t>Grafana dashboard panel</a:t>
            </a:r>
          </a:p>
          <a:p>
            <a:pPr algn="ctr"/>
            <a:r>
              <a:rPr sz="1100" b="0" i="1">
                <a:solidFill>
                  <a:srgbClr val="6B7280"/>
                </a:solidFill>
                <a:latin typeface="Calibri"/>
              </a:rPr>
              <a:t>(capture and drop in 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3 — HOW IT WAS BUILT</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A Spec-Driven AI Pipeline</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11</a:t>
            </a:r>
          </a:p>
        </p:txBody>
      </p:sp>
      <p:sp>
        <p:nvSpPr>
          <p:cNvPr id="8" name="TextBox 7"/>
          <p:cNvSpPr txBox="1"/>
          <p:nvPr/>
        </p:nvSpPr>
        <p:spPr>
          <a:xfrm>
            <a:off x="502920" y="1600200"/>
            <a:ext cx="11183112" cy="1463040"/>
          </a:xfrm>
          <a:prstGeom prst="rect">
            <a:avLst/>
          </a:prstGeom>
          <a:noFill/>
        </p:spPr>
        <p:txBody>
          <a:bodyPr wrap="square" lIns="0" rIns="0" tIns="0" bIns="0">
            <a:spAutoFit/>
          </a:bodyPr>
          <a:lstStyle/>
          <a:p>
            <a:pPr>
              <a:spcBef>
                <a:spcPts val="0"/>
              </a:spcBef>
              <a:spcAft>
                <a:spcPts val="600"/>
              </a:spcAft>
            </a:pPr>
            <a:r>
              <a:rPr sz="2000" b="1" i="0">
                <a:solidFill>
                  <a:srgbClr val="2563EB"/>
                </a:solidFill>
                <a:latin typeface="Calibri"/>
              </a:rPr>
              <a:t>•  </a:t>
            </a:r>
            <a:r>
              <a:rPr sz="2000" b="0" i="0">
                <a:solidFill>
                  <a:srgbClr val="1F2937"/>
                </a:solidFill>
                <a:latin typeface="Calibri"/>
              </a:rPr>
              <a:t>Every feature followed the same steps.</a:t>
            </a:r>
          </a:p>
          <a:p>
            <a:pPr>
              <a:spcBef>
                <a:spcPts val="0"/>
              </a:spcBef>
              <a:spcAft>
                <a:spcPts val="600"/>
              </a:spcAft>
            </a:pPr>
            <a:r>
              <a:rPr sz="2000" b="1" i="0">
                <a:solidFill>
                  <a:srgbClr val="2563EB"/>
                </a:solidFill>
                <a:latin typeface="Calibri"/>
              </a:rPr>
              <a:t>•  </a:t>
            </a:r>
            <a:r>
              <a:rPr sz="2000" b="0" i="0">
                <a:solidFill>
                  <a:srgbClr val="1F2937"/>
                </a:solidFill>
                <a:latin typeface="Calibri"/>
              </a:rPr>
              <a:t>Brainstorm → design → plan → code with tests → review → deploy.</a:t>
            </a:r>
          </a:p>
          <a:p>
            <a:pPr>
              <a:spcBef>
                <a:spcPts val="0"/>
              </a:spcBef>
              <a:spcAft>
                <a:spcPts val="600"/>
              </a:spcAft>
            </a:pPr>
            <a:r>
              <a:rPr sz="2000" b="1" i="0">
                <a:solidFill>
                  <a:srgbClr val="2563EB"/>
                </a:solidFill>
                <a:latin typeface="Calibri"/>
              </a:rPr>
              <a:t>•  </a:t>
            </a:r>
            <a:r>
              <a:rPr sz="2000" b="0" i="0">
                <a:solidFill>
                  <a:srgbClr val="1F2937"/>
                </a:solidFill>
                <a:latin typeface="Calibri"/>
              </a:rPr>
              <a:t>Each step leaves a record you can check.</a:t>
            </a:r>
          </a:p>
          <a:p>
            <a:pPr>
              <a:spcBef>
                <a:spcPts val="0"/>
              </a:spcBef>
              <a:spcAft>
                <a:spcPts val="600"/>
              </a:spcAft>
            </a:pPr>
            <a:r>
              <a:rPr sz="2000" b="1" i="0">
                <a:solidFill>
                  <a:srgbClr val="2563EB"/>
                </a:solidFill>
                <a:latin typeface="Calibri"/>
              </a:rPr>
              <a:t>•  </a:t>
            </a:r>
            <a:r>
              <a:rPr sz="2000" b="0" i="0">
                <a:solidFill>
                  <a:srgbClr val="1F2937"/>
                </a:solidFill>
                <a:latin typeface="Calibri"/>
              </a:rPr>
              <a:t>Every AI decision has a checkpoint and a review gate.</a:t>
            </a:r>
          </a:p>
        </p:txBody>
      </p:sp>
      <p:pic>
        <p:nvPicPr>
          <p:cNvPr id="9" name="Picture 8" descr="pipeline.png"/>
          <p:cNvPicPr>
            <a:picLocks noChangeAspect="1"/>
          </p:cNvPicPr>
          <p:nvPr/>
        </p:nvPicPr>
        <p:blipFill>
          <a:blip r:embed="rId2"/>
          <a:stretch>
            <a:fillRect/>
          </a:stretch>
        </p:blipFill>
        <p:spPr>
          <a:xfrm>
            <a:off x="838047" y="3291840"/>
            <a:ext cx="10515600" cy="287967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3 — HOW IT WAS BUILT</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What I Did vs. What the AI Did</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12</a:t>
            </a:r>
          </a:p>
        </p:txBody>
      </p:sp>
      <p:pic>
        <p:nvPicPr>
          <p:cNvPr id="8" name="Picture 7" descr="me_vs_ai.png"/>
          <p:cNvPicPr>
            <a:picLocks noChangeAspect="1"/>
          </p:cNvPicPr>
          <p:nvPr/>
        </p:nvPicPr>
        <p:blipFill>
          <a:blip r:embed="rId2"/>
          <a:stretch>
            <a:fillRect/>
          </a:stretch>
        </p:blipFill>
        <p:spPr>
          <a:xfrm>
            <a:off x="838047" y="1645920"/>
            <a:ext cx="10515600" cy="429904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PART 4 — RESULTS AND IMPLICATIONS</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Results and Lessons</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13</a:t>
            </a:r>
          </a:p>
        </p:txBody>
      </p:sp>
      <p:sp>
        <p:nvSpPr>
          <p:cNvPr id="8" name="TextBox 7"/>
          <p:cNvSpPr txBox="1"/>
          <p:nvPr/>
        </p:nvSpPr>
        <p:spPr>
          <a:xfrm>
            <a:off x="502920" y="1600200"/>
            <a:ext cx="11183112" cy="1554480"/>
          </a:xfrm>
          <a:prstGeom prst="rect">
            <a:avLst/>
          </a:prstGeom>
          <a:noFill/>
        </p:spPr>
        <p:txBody>
          <a:bodyPr wrap="square" lIns="0" rIns="0" tIns="0" bIns="0">
            <a:spAutoFit/>
          </a:bodyPr>
          <a:lstStyle/>
          <a:p>
            <a:pPr>
              <a:spcBef>
                <a:spcPts val="0"/>
              </a:spcBef>
              <a:spcAft>
                <a:spcPts val="600"/>
              </a:spcAft>
            </a:pPr>
            <a:r>
              <a:rPr sz="1900" b="1" i="0">
                <a:solidFill>
                  <a:srgbClr val="2563EB"/>
                </a:solidFill>
                <a:latin typeface="Calibri"/>
              </a:rPr>
              <a:t>•  </a:t>
            </a:r>
            <a:r>
              <a:rPr sz="1900" b="0" i="0">
                <a:solidFill>
                  <a:srgbClr val="1F2937"/>
                </a:solidFill>
                <a:latin typeface="Calibri"/>
              </a:rPr>
              <a:t>A working, deployed platform. It fixes the OLE pain points.</a:t>
            </a:r>
          </a:p>
          <a:p>
            <a:pPr>
              <a:spcBef>
                <a:spcPts val="0"/>
              </a:spcBef>
              <a:spcAft>
                <a:spcPts val="600"/>
              </a:spcAft>
            </a:pPr>
            <a:r>
              <a:rPr sz="1900" b="1" i="0">
                <a:solidFill>
                  <a:srgbClr val="2563EB"/>
                </a:solidFill>
                <a:latin typeface="Calibri"/>
              </a:rPr>
              <a:t>•  </a:t>
            </a:r>
            <a:r>
              <a:rPr sz="1900" b="0" i="0">
                <a:solidFill>
                  <a:srgbClr val="1F2937"/>
                </a:solidFill>
                <a:latin typeface="Calibri"/>
              </a:rPr>
              <a:t>Real numbers below, all green at every merge.</a:t>
            </a:r>
          </a:p>
          <a:p>
            <a:pPr>
              <a:spcBef>
                <a:spcPts val="0"/>
              </a:spcBef>
              <a:spcAft>
                <a:spcPts val="600"/>
              </a:spcAft>
            </a:pPr>
            <a:r>
              <a:rPr sz="1900" b="1" i="0">
                <a:solidFill>
                  <a:srgbClr val="2563EB"/>
                </a:solidFill>
                <a:latin typeface="Calibri"/>
              </a:rPr>
              <a:t>•  </a:t>
            </a:r>
            <a:r>
              <a:rPr sz="1900" b="0" i="0">
                <a:solidFill>
                  <a:srgbClr val="1F2937"/>
                </a:solidFill>
                <a:latin typeface="Calibri"/>
              </a:rPr>
              <a:t>Lesson: the process has a cost, but it catches bugs before they ship.</a:t>
            </a:r>
          </a:p>
          <a:p>
            <a:pPr>
              <a:spcBef>
                <a:spcPts val="0"/>
              </a:spcBef>
              <a:spcAft>
                <a:spcPts val="600"/>
              </a:spcAft>
            </a:pPr>
            <a:r>
              <a:rPr sz="1900" b="1" i="0">
                <a:solidFill>
                  <a:srgbClr val="2563EB"/>
                </a:solidFill>
                <a:latin typeface="Calibri"/>
              </a:rPr>
              <a:t>•  </a:t>
            </a:r>
            <a:r>
              <a:rPr sz="1900" b="0" i="0">
                <a:solidFill>
                  <a:srgbClr val="1F2937"/>
                </a:solidFill>
                <a:latin typeface="Calibri"/>
              </a:rPr>
              <a:t>Future work: likes, profiles, and Python exercises [2][7].</a:t>
            </a:r>
          </a:p>
        </p:txBody>
      </p:sp>
      <p:pic>
        <p:nvPicPr>
          <p:cNvPr id="9" name="Picture 8" descr="stats.png"/>
          <p:cNvPicPr>
            <a:picLocks noChangeAspect="1"/>
          </p:cNvPicPr>
          <p:nvPr/>
        </p:nvPicPr>
        <p:blipFill>
          <a:blip r:embed="rId2"/>
          <a:stretch>
            <a:fillRect/>
          </a:stretch>
        </p:blipFill>
        <p:spPr>
          <a:xfrm>
            <a:off x="838047" y="3383280"/>
            <a:ext cx="10515600" cy="272272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429000"/>
            <a:ext cx="12191695" cy="5486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468880"/>
            <a:ext cx="10515600" cy="914400"/>
          </a:xfrm>
          <a:prstGeom prst="rect">
            <a:avLst/>
          </a:prstGeom>
          <a:noFill/>
        </p:spPr>
        <p:txBody>
          <a:bodyPr wrap="square" lIns="0" rIns="0" tIns="0" bIns="0">
            <a:spAutoFit/>
          </a:bodyPr>
          <a:lstStyle/>
          <a:p>
            <a:r>
              <a:rPr sz="4400" b="1" i="0">
                <a:solidFill>
                  <a:srgbClr val="FFFFFF"/>
                </a:solidFill>
                <a:latin typeface="Calibri"/>
              </a:rPr>
              <a:t>Thank You</a:t>
            </a:r>
          </a:p>
        </p:txBody>
      </p:sp>
      <p:sp>
        <p:nvSpPr>
          <p:cNvPr id="5" name="TextBox 4"/>
          <p:cNvSpPr txBox="1"/>
          <p:nvPr/>
        </p:nvSpPr>
        <p:spPr>
          <a:xfrm>
            <a:off x="822960" y="3611880"/>
            <a:ext cx="10515600" cy="548640"/>
          </a:xfrm>
          <a:prstGeom prst="rect">
            <a:avLst/>
          </a:prstGeom>
          <a:noFill/>
        </p:spPr>
        <p:txBody>
          <a:bodyPr wrap="square" lIns="0" rIns="0" tIns="0" bIns="0">
            <a:spAutoFit/>
          </a:bodyPr>
          <a:lstStyle/>
          <a:p>
            <a:r>
              <a:rPr sz="2200" b="0" i="0">
                <a:solidFill>
                  <a:srgbClr val="93C5FD"/>
                </a:solidFill>
                <a:latin typeface="Calibri"/>
              </a:rPr>
              <a:t>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1183112" cy="320040"/>
          </a:xfrm>
          <a:prstGeom prst="rect">
            <a:avLst/>
          </a:prstGeom>
          <a:noFill/>
        </p:spPr>
        <p:txBody>
          <a:bodyPr wrap="square" lIns="0" rIns="0" tIns="0" bIns="0">
            <a:spAutoFit/>
          </a:bodyPr>
          <a:lstStyle/>
          <a:p>
            <a:r>
              <a:rPr sz="1300" b="1" i="0">
                <a:solidFill>
                  <a:srgbClr val="6B7280"/>
                </a:solidFill>
                <a:latin typeface="Calibri"/>
              </a:rPr>
              <a:t>APPENDIX</a:t>
            </a:r>
          </a:p>
        </p:txBody>
      </p:sp>
      <p:sp>
        <p:nvSpPr>
          <p:cNvPr id="4" name="TextBox 3"/>
          <p:cNvSpPr txBox="1"/>
          <p:nvPr/>
        </p:nvSpPr>
        <p:spPr>
          <a:xfrm>
            <a:off x="502920" y="566928"/>
            <a:ext cx="11183112" cy="822960"/>
          </a:xfrm>
          <a:prstGeom prst="rect">
            <a:avLst/>
          </a:prstGeom>
          <a:noFill/>
        </p:spPr>
        <p:txBody>
          <a:bodyPr wrap="square" lIns="0" rIns="0" tIns="0" bIns="0">
            <a:spAutoFit/>
          </a:bodyPr>
          <a:lstStyle/>
          <a:p>
            <a:r>
              <a:rPr sz="3200" b="1" i="0">
                <a:solidFill>
                  <a:srgbClr val="1F2937"/>
                </a:solidFill>
                <a:latin typeface="Calibri"/>
              </a:rPr>
              <a:t>References</a:t>
            </a:r>
          </a:p>
        </p:txBody>
      </p:sp>
      <p:sp>
        <p:nvSpPr>
          <p:cNvPr id="5" name="Rectangle 4"/>
          <p:cNvSpPr/>
          <p:nvPr/>
        </p:nvSpPr>
        <p:spPr>
          <a:xfrm>
            <a:off x="502920" y="1371600"/>
            <a:ext cx="11183112"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lIns="0" rIns="0" tIns="0" bIns="0">
            <a:spAutoFit/>
          </a:bodyPr>
          <a:lstStyle/>
          <a:p>
            <a:r>
              <a:rPr sz="1100" b="0" i="0">
                <a:solidFill>
                  <a:srgbClr val="6B7280"/>
                </a:solidFill>
                <a:latin typeface="Calibri"/>
              </a:rPr>
              <a:t>Programming Learning Platform — Capstone</a:t>
            </a:r>
          </a:p>
        </p:txBody>
      </p:sp>
      <p:sp>
        <p:nvSpPr>
          <p:cNvPr id="7" name="TextBox 6"/>
          <p:cNvSpPr txBox="1"/>
          <p:nvPr/>
        </p:nvSpPr>
        <p:spPr>
          <a:xfrm>
            <a:off x="10725912" y="6400800"/>
            <a:ext cx="1005840" cy="320040"/>
          </a:xfrm>
          <a:prstGeom prst="rect">
            <a:avLst/>
          </a:prstGeom>
          <a:noFill/>
        </p:spPr>
        <p:txBody>
          <a:bodyPr wrap="square" lIns="0" rIns="0" tIns="0" bIns="0">
            <a:spAutoFit/>
          </a:bodyPr>
          <a:lstStyle/>
          <a:p>
            <a:pPr algn="r"/>
            <a:r>
              <a:rPr sz="1100" b="0" i="0">
                <a:solidFill>
                  <a:srgbClr val="6B7280"/>
                </a:solidFill>
                <a:latin typeface="Calibri"/>
              </a:rPr>
              <a:t>15</a:t>
            </a:r>
          </a:p>
        </p:txBody>
      </p:sp>
      <p:sp>
        <p:nvSpPr>
          <p:cNvPr id="8" name="TextBox 7"/>
          <p:cNvSpPr txBox="1"/>
          <p:nvPr/>
        </p:nvSpPr>
        <p:spPr>
          <a:xfrm>
            <a:off x="502920" y="1600200"/>
            <a:ext cx="11183112" cy="4572000"/>
          </a:xfrm>
          <a:prstGeom prst="rect">
            <a:avLst/>
          </a:prstGeom>
          <a:noFill/>
        </p:spPr>
        <p:txBody>
          <a:bodyPr wrap="square" lIns="0" rIns="0" tIns="0" bIns="0">
            <a:spAutoFit/>
          </a:bodyPr>
          <a:lstStyle/>
          <a:p>
            <a:pPr>
              <a:spcAft>
                <a:spcPts val="400"/>
              </a:spcAft>
            </a:pPr>
            <a:r>
              <a:rPr sz="1500" b="0" i="0">
                <a:solidFill>
                  <a:srgbClr val="1F2937"/>
                </a:solidFill>
                <a:latin typeface="Calibri"/>
              </a:rPr>
              <a:t>[1] Baeldung. (2024). Monitor a Spring Boot app using Prometheus.</a:t>
            </a:r>
          </a:p>
          <a:p>
            <a:pPr>
              <a:spcAft>
                <a:spcPts val="400"/>
              </a:spcAft>
            </a:pPr>
            <a:r>
              <a:rPr sz="1500" b="0" i="0">
                <a:solidFill>
                  <a:srgbClr val="1F2937"/>
                </a:solidFill>
                <a:latin typeface="Calibri"/>
              </a:rPr>
              <a:t>[2] Codecademy. (2024). Learn Python 3.</a:t>
            </a:r>
          </a:p>
          <a:p>
            <a:pPr>
              <a:spcAft>
                <a:spcPts val="400"/>
              </a:spcAft>
            </a:pPr>
            <a:r>
              <a:rPr sz="1500" b="0" i="0">
                <a:solidFill>
                  <a:srgbClr val="1F2937"/>
                </a:solidFill>
                <a:latin typeface="Calibri"/>
              </a:rPr>
              <a:t>[3] DZone. (2021). JGit library examples in Java.</a:t>
            </a:r>
          </a:p>
          <a:p>
            <a:pPr>
              <a:spcAft>
                <a:spcPts val="400"/>
              </a:spcAft>
            </a:pPr>
            <a:r>
              <a:rPr sz="1500" b="0" i="0">
                <a:solidFill>
                  <a:srgbClr val="1F2937"/>
                </a:solidFill>
                <a:latin typeface="Calibri"/>
              </a:rPr>
              <a:t>[4] EduBlocks. (2024). Block-based coding to text-based Python.</a:t>
            </a:r>
          </a:p>
          <a:p>
            <a:pPr>
              <a:spcAft>
                <a:spcPts val="400"/>
              </a:spcAft>
            </a:pPr>
            <a:r>
              <a:rPr sz="1500" b="0" i="0">
                <a:solidFill>
                  <a:srgbClr val="1F2937"/>
                </a:solidFill>
                <a:latin typeface="Calibri"/>
              </a:rPr>
              <a:t>[5] Google for Developers. (2025). Save and load (Blockly serialization).</a:t>
            </a:r>
          </a:p>
          <a:p>
            <a:pPr>
              <a:spcAft>
                <a:spcPts val="400"/>
              </a:spcAft>
            </a:pPr>
            <a:r>
              <a:rPr sz="1500" b="0" i="0">
                <a:solidFill>
                  <a:srgbClr val="1F2937"/>
                </a:solidFill>
                <a:latin typeface="Calibri"/>
              </a:rPr>
              <a:t>[6] Google for Developers. (2025). Using Blockly APIs.</a:t>
            </a:r>
          </a:p>
          <a:p>
            <a:pPr>
              <a:spcAft>
                <a:spcPts val="400"/>
              </a:spcAft>
            </a:pPr>
            <a:r>
              <a:rPr sz="1500" b="0" i="0">
                <a:solidFill>
                  <a:srgbClr val="1F2937"/>
                </a:solidFill>
                <a:latin typeface="Calibri"/>
              </a:rPr>
              <a:t>[7] freeCodeCamp. (2024). Scientific computing with Python.</a:t>
            </a:r>
          </a:p>
          <a:p>
            <a:pPr>
              <a:spcAft>
                <a:spcPts val="400"/>
              </a:spcAft>
            </a:pPr>
            <a:r>
              <a:rPr sz="1500" b="0" i="0">
                <a:solidFill>
                  <a:srgbClr val="1F2937"/>
                </a:solidFill>
                <a:latin typeface="Calibri"/>
              </a:rPr>
              <a:t>[8] Hermans, F. (2020). Hedy: A gradual language for programming education. ICER ’20.</a:t>
            </a:r>
          </a:p>
          <a:p>
            <a:pPr>
              <a:spcAft>
                <a:spcPts val="400"/>
              </a:spcAft>
            </a:pPr>
            <a:r>
              <a:rPr sz="1500" b="0" i="0">
                <a:solidFill>
                  <a:srgbClr val="1F2937"/>
                </a:solidFill>
                <a:latin typeface="Calibri"/>
              </a:rPr>
              <a:t>[9] ignatandrei. (2024). BlocklyAutomation [software]. GitHub.</a:t>
            </a:r>
          </a:p>
          <a:p>
            <a:pPr>
              <a:spcAft>
                <a:spcPts val="400"/>
              </a:spcAft>
            </a:pPr>
            <a:r>
              <a:rPr sz="1500" b="0" i="0">
                <a:solidFill>
                  <a:srgbClr val="1F2937"/>
                </a:solidFill>
                <a:latin typeface="Calibri"/>
              </a:rPr>
              <a:t>[10] Merkel, D. (2014). Docker: Lightweight Linux containers. Linux Journal.</a:t>
            </a:r>
          </a:p>
          <a:p>
            <a:pPr>
              <a:spcAft>
                <a:spcPts val="400"/>
              </a:spcAft>
            </a:pPr>
            <a:r>
              <a:rPr sz="1500" b="0" i="0">
                <a:solidFill>
                  <a:srgbClr val="1F2937"/>
                </a:solidFill>
                <a:latin typeface="Calibri"/>
              </a:rPr>
              <a:t>[11] Open Roberta. (2024). Open Roberta Lab [software]. GitHub.</a:t>
            </a:r>
          </a:p>
          <a:p>
            <a:pPr>
              <a:spcAft>
                <a:spcPts val="400"/>
              </a:spcAft>
            </a:pPr>
            <a:r>
              <a:rPr sz="1500" b="0" i="0">
                <a:solidFill>
                  <a:srgbClr val="1F2937"/>
                </a:solidFill>
                <a:latin typeface="Calibri"/>
              </a:rPr>
              <a:t>[12] Petre, M. (2004). How expert software engineers understand and use UML. JSS 71(3).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