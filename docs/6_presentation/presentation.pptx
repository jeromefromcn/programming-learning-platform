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Thank you for having me. Today I'm presenting my capstone project: a standalone programming exercise platform for the university, built to replace a fragile legacy system. This talk has two halves. First, the platform itself — what it does and why it matters. Second, and this is the part I want you to pay close attention to — how it was built. I used an AI coding agent, but not by simply chatting with it. I'll show you a real, failed first attempt at 'vibe coding' this system, and the disciplined process I built afterward that actually worked — with concrete evidence pulled straight from the project's own commit history. Let's start with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university currently runs programming exercises through a system called OLE. Every single exercise lives inside one giant XML file — that's the core problem, it's monolithic. If a tutor makes one bad edit, there's a real risk of corrupting that entire file, breaking every exercise for every student at once. Because the cost of a mistake is so high, and because very few people maintain this system, nobody wants to touch it. The practical result: exercise content has gone stale, there's no way to introduce new exercise types, and tutors have no independent way to fix or extend anything. That's the real, currently-felt pain this project addresses — and that's the value: giving tutors a platform they can manage themselves, safely.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a standalone web platform that tutors can run and manage completely independently of OLE. It has three roles with a simple permission hierarchy — Super Admin sits above Tutor, which sits above Student. For this talk I'm focusing specifically on the Blockly exercise type — visual, block-based programming exercises. Students practice on the platform, export their answers, and those get imported back into OLE's existing submission process — so grading stays decoupled, and this system doesn't need to replace OLE's submission workflow, just fix the exercise-authoring and practice experience around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of the process I'm about to show you existed, I actually started building this a different way — over a Telegram channel. Purely chat-driven: I would describe what I wanted, the agent would go implement it, and I'd verify only by watching the final result. I never looked at a diff, never opened an IDE. For small, isolated changes this felt great — fast, almost magical. But as the system grew, it broke down. There were no global constraints yet, no design docs, no enforced review — every decision was left entirely to the agent. And here's the key fact: the agent is right most of the time, but not all of the time. With nothing catching the wrong calls, new features started breaking old ones, and — this is the part that really told me something was wrong — fixing one bug would often introduce more than one new bug. Development stopped converging. It became genuinely difficult to make forward progress.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was actually going wrong? It wasn't that the agent couldn't write correct code most of the time — it clearly could. The problem was structural: with no checkpoints and no review gate, the small fraction of decisions the agent got wrong never got caught. They just accumulated, silently, until the whole codebase stopped converging. That's the actual finding I want this talk to land: the interesting question for this capstone was never 'can an AI agent write code' — that's now a fairly settled yes. The interesting, and much harder, question is: what process turns that into software you can actually ship and trust? Everything in the next section is the answer I built and tested against that question.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technical side: requests come in through Nginx, which serves the static frontend and reverse-proxies API calls to a Spring Boot backend. That backend talks to MySQL for persistence. When a Blockly submission needs grading, it runs inside an embedded Rhino JavaScript engine — sandboxed, with a bytecode instruction limit so a student's infinite loop can't hang the server. Prometheus scrapes metrics from the API every fifteen seconds, and Grafana turns that into dashboards, with Telegram alerting on top.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thing runs as seven Docker containers on a single server — deliberately no Kubernetes, no Redis, no Kafka. This is a single-university tool and it doesn't need distributed infrastructure. Nginx and the API server handle traffic; MySQL holds the data, with Flyway managing schema migrations automatically on startup. There's a sandbox container too — a Python execution environment using nsjail, no network access, capped memory. I want to be upfront that I'm not covering Python exercises as a student-facing feature in this talk — this container is just part of the honest infrastructure picture. Prometheus and Grafana handle monitoring, and a backup container takes a daily MySQL dump with thirty-day retention.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stack: React with Vite on the frontend, Blockly for the visual editor. Spring Boot 3.5 on the backend with Spring Security and JWT for auth, Flyway for migrations. Two design principles matter a lot here, and they come back later in this talk: every edit to an exercise creates a new immutable version rather than overwriting the old one, so rollback is always possible. And deletes are soft deletes only, everywhere — exercises, courses, submissions. Nothing is ever actually destroyed. Both of these turned out to matter a lot once an AI agent was doing the implementing, which I'll get back 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that's the what. Now let's get into the how — because the process behind this is the part of the project I actually want to spend the rest of this talk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process that replaced the Telegram experiment. Every feature starts with a brainstorming conversation, then a written design doc, then an implementation plan that breaks the work into small tasks. Each task gets its own brief, gets implemented test-first, and gets reviewed before anything merges. The critical property here is that every single step leaves behind a durable, checkable artifact — a doc, a plan, a test result, a review verdict. Nothing is just 'trust me, it's done.' This directly answers the failure mode from the Telegram phase: every agent decision now has a checkpoint, a spec to be judged against, and a review gate before it can merge.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this concrete with a real example, not a hypothetical. There was a bug where the tutor submissions page had an 'All sources' filter option, but the backend endpoint had defaultValue equals IMPORT on the source parameter — which meant Spring silently rewrote both a missing parameter and an explicitly empty one back to 'IMPORT'. So 'All sources' silently only ever showed imported submissions. The fix followed the exact pipeline I just described: a short design doc pinned down the bug, an implementation plan broke it into one task, a test was written first that failed for the right reason — confirmed failing on the current code — then the one-line fix went in, the test passed, and it was committed. That whole chain is preserved in this project's own docs and git history, it's not a story I'm reconstructing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Zooming into one piece of that pipeline: how implementation tasks actually get handed to the agent. Each task in a plan gets its own brief — exactly which files to touch, what interfaces it must respect, and step-by-step TDD instructions. The implementer's job isn't just to write code, it's to come back with evidence: run the test, show it fails for the right reason, that's the RED step; make it pass, that's GREEN; then commit. The task report documents both, plus the actual commit hash. This is what makes 'it's done' a verifiable claim instead of a trust exercise.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task's diff then goes through a review pass, findings graded Critical, Important, or Minor. Before a whole feature branch merges, there's one more full-branch review. Here's the example I'm proudest of finding in this project's own history: during one feature, the agent's own re-review of a concurrency fix caught a real race condition — a flush-ordering issue nobody had specifically asked it to look for — fixed it, and added a regression test proving the fix. Nobody prompted 'go find a concurrency bug.' The review step itself surfaced it. That's the review gate actually doing its job, not just rubber-stamping.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given all that automation, what was actually left for me to do? Concretely: the agent wrote effectively all of the implementation code — every commit in this repository is co-authored by Claude. My part was different in kind, not just in degree. I identified the real problem, because I'm the one who knows firsthand how OLE actually fails. I wrote the requirements — the personas, the acceptance criteria, the edge cases. I made the calls that can't be walked back: single-server architecture, no Redis or Kafka, immutable versioning, soft-deletes only. I designed this whole pipeline you've been looking at for the last few slides. And critically, I resolved the judgment calls the agent could surface but not decide. Here's a real one: mid-implementation, the agent flagged that an old test assumed a field — batch_id — gets nulled out when a batch is deleted. That assumption stopped being valid once deletion became soft-delete instead of hard-delete. The agent could see the conflict, it could not decide which behavior was correct going forward. I decided: keep the field intact. The spec got corrected to match — that's commit efd8854. That's the shape of my contribution: not typing the code, but making the calls nothing else in this pipeline could make.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this together into eight points, because I think this is the actual generalizable lesson of this capstone. One: I stayed deeply involved in every ambiguous decision, I didn't just accept output. Two: the project's constraints file was actively maintained as ground truth — for example, a sandbox execution limit got corrected from 500 thousand to 5 million bytecode operations after real testing showed the original number was simply wrong, that's commit 7b47312. Three: explicit hard constraints — no hard deletes, no skipping validation, no skipping the process itself — remove entire categories of mistakes structurally, instead of hoping the agent chooses well. Four: features are broken into small tasks, so one wrong call stays local instead of compounding. Five: TDD evidence is required at every single checkpoint, not a trusted 'done.' Six: review is layered — every task, then the whole branch. Seven: there's a durable audit trail — a progress ledger, design docs, task reports — so nothing depends on anyone's memory. Eight: everything gets verified against the actual deployed system, not just green tests in isolation. None of these eight is exotic on its own. What made the difference is that together, they mean the agent's high-but-imperfect accuracy per decision never gets the chance to compound into the kind of divergence I showed you back in the Telegram phase.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did this actually produce? 457 commits across the project's history. Over 330 backend tests and over 280 frontend tests, all green, at every single merge gate — not just at the end. Every feature branch went through this pipeline and came out independently reviewed as ready to merge. This isn't a toy demo — it's the actual development history of a system running in production for the university right now.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honest about the limits of this, too. The disciplined process didn't make the agent perfect — the concurrency bug I mentioned earlier still happened. What the process did was catch it before it shipped, not prevent it from occurring in the first place. There's also real overhead: requiring a design doc, a plan, TDD evidence, and layered review for every change is slower than just asking for a quick fix — and that's a deliberate tradeoff, the human being in the loop is a feature of this model, not friction to be optimized away. And honestly, knowing which decisions are the ones that genuinely need a human judgment call — versus which ones are safe to leave to the agent — is itself a skill I had to build over the course of this project, not something I started with.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there are still Phase 2 features on the backlog — exercise likes, profile management — that weren't required to replace OLE's core workflow and can follow after launch. But the bigger point I want to leave you with is the broader implication: I don't think this pattern is specific to this one platform. Deep human involvement in decisions, plus a disciplined agentic pipeline — brainstorm, spec, small tasks, enforced TDD, layered review, real verification — that combination looks to me like a candidate template for making AI-agent-built software viable anywhere it needs to actually ship and be trusted, not just demo well.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9984"/>
            <a:ext cx="12191695" cy="128016"/>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62895" cy="1188720"/>
          </a:xfrm>
          <a:prstGeom prst="rect">
            <a:avLst/>
          </a:prstGeom>
          <a:noFill/>
        </p:spPr>
        <p:txBody>
          <a:bodyPr wrap="square" anchor="ctr">
            <a:spAutoFit/>
          </a:bodyPr>
          <a:lstStyle/>
          <a:p>
            <a:pPr algn="ctr">
              <a:lnSpc>
                <a:spcPct val="115000"/>
              </a:lnSpc>
            </a:pPr>
            <a:r>
              <a:rPr sz="4200" b="1" i="0">
                <a:solidFill>
                  <a:srgbClr val="FFFFFF"/>
                </a:solidFill>
                <a:latin typeface="Calibri"/>
              </a:rPr>
              <a:t>Programming Learning Platform</a:t>
            </a:r>
          </a:p>
        </p:txBody>
      </p:sp>
      <p:sp>
        <p:nvSpPr>
          <p:cNvPr id="5" name="TextBox 4"/>
          <p:cNvSpPr txBox="1"/>
          <p:nvPr/>
        </p:nvSpPr>
        <p:spPr>
          <a:xfrm>
            <a:off x="914400" y="3703320"/>
            <a:ext cx="10362895" cy="868680"/>
          </a:xfrm>
          <a:prstGeom prst="rect">
            <a:avLst/>
          </a:prstGeom>
          <a:noFill/>
        </p:spPr>
        <p:txBody>
          <a:bodyPr wrap="square" anchor="t">
            <a:spAutoFit/>
          </a:bodyPr>
          <a:lstStyle/>
          <a:p>
            <a:pPr algn="ctr">
              <a:lnSpc>
                <a:spcPct val="120000"/>
              </a:lnSpc>
            </a:pPr>
            <a:r>
              <a:rPr sz="2000" b="0" i="0">
                <a:solidFill>
                  <a:srgbClr val="93C5FD"/>
                </a:solidFill>
                <a:latin typeface="Calibri"/>
              </a:rPr>
              <a:t>A Blockly Exercise Platform — Built with Disciplined AI-Agent Development</a:t>
            </a:r>
          </a:p>
        </p:txBody>
      </p:sp>
      <p:sp>
        <p:nvSpPr>
          <p:cNvPr id="6" name="TextBox 5"/>
          <p:cNvSpPr txBox="1"/>
          <p:nvPr/>
        </p:nvSpPr>
        <p:spPr>
          <a:xfrm>
            <a:off x="914400" y="4709160"/>
            <a:ext cx="10362895" cy="457200"/>
          </a:xfrm>
          <a:prstGeom prst="rect">
            <a:avLst/>
          </a:prstGeom>
          <a:noFill/>
        </p:spPr>
        <p:txBody>
          <a:bodyPr wrap="square" anchor="t">
            <a:spAutoFit/>
          </a:bodyPr>
          <a:lstStyle/>
          <a:p>
            <a:pPr algn="ctr">
              <a:lnSpc>
                <a:spcPct val="115000"/>
              </a:lnSpc>
            </a:pPr>
            <a:r>
              <a:rPr sz="1700" b="0" i="0">
                <a:solidFill>
                  <a:srgbClr val="CBD5E1"/>
                </a:solidFill>
                <a:latin typeface="Calibri"/>
              </a:rPr>
              <a:t>[Your Name]   ·   COMP 8960SEF Capstone Project   ·   [Presentation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1 — THE PROBLEM AND ITS SIGNIFICANCE</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The Problem &amp; Why It Matters</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2</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All exercises live in one monolithic XML file</a:t>
            </a:r>
          </a:p>
          <a:p>
            <a:pPr>
              <a:lnSpc>
                <a:spcPct val="115000"/>
              </a:lnSpc>
              <a:spcAft>
                <a:spcPts val="1000"/>
              </a:spcAft>
            </a:pPr>
            <a:r>
              <a:rPr sz="2000" b="1">
                <a:solidFill>
                  <a:srgbClr val="2563EB"/>
                </a:solidFill>
                <a:latin typeface="Calibri"/>
              </a:rPr>
              <a:t>•  </a:t>
            </a:r>
            <a:r>
              <a:rPr sz="2000">
                <a:solidFill>
                  <a:srgbClr val="1F2937"/>
                </a:solidFill>
                <a:latin typeface="Calibri"/>
              </a:rPr>
              <a:t>One bad edit → risk of corrupting everything</a:t>
            </a:r>
          </a:p>
          <a:p>
            <a:pPr>
              <a:lnSpc>
                <a:spcPct val="115000"/>
              </a:lnSpc>
              <a:spcAft>
                <a:spcPts val="1000"/>
              </a:spcAft>
            </a:pPr>
            <a:r>
              <a:rPr sz="2000" b="1">
                <a:solidFill>
                  <a:srgbClr val="2563EB"/>
                </a:solidFill>
                <a:latin typeface="Calibri"/>
              </a:rPr>
              <a:t>•  </a:t>
            </a:r>
            <a:r>
              <a:rPr sz="2000">
                <a:solidFill>
                  <a:srgbClr val="1F2937"/>
                </a:solidFill>
                <a:latin typeface="Calibri"/>
              </a:rPr>
              <a:t>Maintainers are scarce; even small changes stall</a:t>
            </a:r>
          </a:p>
          <a:p>
            <a:pPr>
              <a:lnSpc>
                <a:spcPct val="115000"/>
              </a:lnSpc>
              <a:spcAft>
                <a:spcPts val="1000"/>
              </a:spcAft>
            </a:pPr>
            <a:r>
              <a:rPr sz="2000" b="1">
                <a:solidFill>
                  <a:srgbClr val="2563EB"/>
                </a:solidFill>
                <a:latin typeface="Calibri"/>
              </a:rPr>
              <a:t>•  </a:t>
            </a:r>
            <a:r>
              <a:rPr sz="2000">
                <a:solidFill>
                  <a:srgbClr val="1F2937"/>
                </a:solidFill>
                <a:latin typeface="Calibri"/>
              </a:rPr>
              <a:t>Result: stale content, no new exercise types</a:t>
            </a:r>
          </a:p>
        </p:txBody>
      </p:sp>
      <p:pic>
        <p:nvPicPr>
          <p:cNvPr id="9" name="Picture 8" descr="before_after.png"/>
          <p:cNvPicPr>
            <a:picLocks noChangeAspect="1"/>
          </p:cNvPicPr>
          <p:nvPr/>
        </p:nvPicPr>
        <p:blipFill>
          <a:blip r:embed="rId2"/>
          <a:stretch>
            <a:fillRect/>
          </a:stretch>
        </p:blipFill>
        <p:spPr>
          <a:xfrm>
            <a:off x="3220217" y="3611880"/>
            <a:ext cx="575126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2 — ANALYSIS OF THE PROBLEM AND THE APPROACH</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The Solution, at a Glance</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3</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Standalone platform, independent of OLE</a:t>
            </a:r>
          </a:p>
          <a:p>
            <a:pPr>
              <a:lnSpc>
                <a:spcPct val="115000"/>
              </a:lnSpc>
              <a:spcAft>
                <a:spcPts val="1000"/>
              </a:spcAft>
            </a:pPr>
            <a:r>
              <a:rPr sz="2000" b="1">
                <a:solidFill>
                  <a:srgbClr val="2563EB"/>
                </a:solidFill>
                <a:latin typeface="Calibri"/>
              </a:rPr>
              <a:t>•  </a:t>
            </a:r>
            <a:r>
              <a:rPr sz="2000">
                <a:solidFill>
                  <a:srgbClr val="1F2937"/>
                </a:solidFill>
                <a:latin typeface="Calibri"/>
              </a:rPr>
              <a:t>Three roles: Student · Tutor · Super Admin</a:t>
            </a:r>
          </a:p>
          <a:p>
            <a:pPr>
              <a:lnSpc>
                <a:spcPct val="115000"/>
              </a:lnSpc>
              <a:spcAft>
                <a:spcPts val="1000"/>
              </a:spcAft>
            </a:pPr>
            <a:r>
              <a:rPr sz="2000" b="1">
                <a:solidFill>
                  <a:srgbClr val="2563EB"/>
                </a:solidFill>
                <a:latin typeface="Calibri"/>
              </a:rPr>
              <a:t>•  </a:t>
            </a:r>
            <a:r>
              <a:rPr sz="2000">
                <a:solidFill>
                  <a:srgbClr val="1F2937"/>
                </a:solidFill>
                <a:latin typeface="Calibri"/>
              </a:rPr>
              <a:t>Blockly visual exercises</a:t>
            </a:r>
          </a:p>
          <a:p>
            <a:pPr>
              <a:lnSpc>
                <a:spcPct val="115000"/>
              </a:lnSpc>
              <a:spcAft>
                <a:spcPts val="1000"/>
              </a:spcAft>
            </a:pPr>
            <a:r>
              <a:rPr sz="2000" b="1">
                <a:solidFill>
                  <a:srgbClr val="2563EB"/>
                </a:solidFill>
                <a:latin typeface="Calibri"/>
              </a:rPr>
              <a:t>•  </a:t>
            </a:r>
            <a:r>
              <a:rPr sz="2000">
                <a:solidFill>
                  <a:srgbClr val="1F2937"/>
                </a:solidFill>
                <a:latin typeface="Calibri"/>
              </a:rPr>
              <a:t>Export / import grading, decoupled from OLE</a:t>
            </a:r>
          </a:p>
        </p:txBody>
      </p:sp>
      <p:pic>
        <p:nvPicPr>
          <p:cNvPr id="9" name="Picture 8" descr="roles.png"/>
          <p:cNvPicPr>
            <a:picLocks noChangeAspect="1"/>
          </p:cNvPicPr>
          <p:nvPr/>
        </p:nvPicPr>
        <p:blipFill>
          <a:blip r:embed="rId2"/>
          <a:stretch>
            <a:fillRect/>
          </a:stretch>
        </p:blipFill>
        <p:spPr>
          <a:xfrm>
            <a:off x="3879154" y="3611880"/>
            <a:ext cx="4433386"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2 — ANALYSIS OF THE PROBLEM AND THE APPROACH</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Failed First Attempt: Pure “Vibe Coding”</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4</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Started in a Telegram chat — no code visibility</a:t>
            </a:r>
          </a:p>
          <a:p>
            <a:pPr>
              <a:lnSpc>
                <a:spcPct val="115000"/>
              </a:lnSpc>
              <a:spcAft>
                <a:spcPts val="1000"/>
              </a:spcAft>
            </a:pPr>
            <a:r>
              <a:rPr sz="2000" b="1">
                <a:solidFill>
                  <a:srgbClr val="2563EB"/>
                </a:solidFill>
                <a:latin typeface="Calibri"/>
              </a:rPr>
              <a:t>•  </a:t>
            </a:r>
            <a:r>
              <a:rPr sz="2000">
                <a:solidFill>
                  <a:srgbClr val="1F2937"/>
                </a:solidFill>
                <a:latin typeface="Calibri"/>
              </a:rPr>
              <a:t>Fine at first, for small changes</a:t>
            </a:r>
          </a:p>
          <a:p>
            <a:pPr>
              <a:lnSpc>
                <a:spcPct val="115000"/>
              </a:lnSpc>
              <a:spcAft>
                <a:spcPts val="1000"/>
              </a:spcAft>
            </a:pPr>
            <a:r>
              <a:rPr sz="2000" b="1">
                <a:solidFill>
                  <a:srgbClr val="2563EB"/>
                </a:solidFill>
                <a:latin typeface="Calibri"/>
              </a:rPr>
              <a:t>•  </a:t>
            </a:r>
            <a:r>
              <a:rPr sz="2000">
                <a:solidFill>
                  <a:srgbClr val="1F2937"/>
                </a:solidFill>
                <a:latin typeface="Calibri"/>
              </a:rPr>
              <a:t>No constraints, no design docs, no review</a:t>
            </a:r>
          </a:p>
          <a:p>
            <a:pPr>
              <a:lnSpc>
                <a:spcPct val="115000"/>
              </a:lnSpc>
              <a:spcAft>
                <a:spcPts val="1000"/>
              </a:spcAft>
            </a:pPr>
            <a:r>
              <a:rPr sz="2000" b="1">
                <a:solidFill>
                  <a:srgbClr val="2563EB"/>
                </a:solidFill>
                <a:latin typeface="Calibri"/>
              </a:rPr>
              <a:t>•  </a:t>
            </a:r>
            <a:r>
              <a:rPr sz="2000">
                <a:solidFill>
                  <a:srgbClr val="1F2937"/>
                </a:solidFill>
                <a:latin typeface="Calibri"/>
              </a:rPr>
              <a:t>New features broke old ones; fixes caused more bugs</a:t>
            </a:r>
          </a:p>
        </p:txBody>
      </p:sp>
      <p:pic>
        <p:nvPicPr>
          <p:cNvPr id="9" name="Picture 8" descr="vibe_coding.png"/>
          <p:cNvPicPr>
            <a:picLocks noChangeAspect="1"/>
          </p:cNvPicPr>
          <p:nvPr/>
        </p:nvPicPr>
        <p:blipFill>
          <a:blip r:embed="rId2"/>
          <a:stretch>
            <a:fillRect/>
          </a:stretch>
        </p:blipFill>
        <p:spPr>
          <a:xfrm>
            <a:off x="2828026" y="3611880"/>
            <a:ext cx="6535642" cy="2743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365760"/>
          </a:xfrm>
          <a:prstGeom prst="rect">
            <a:avLst/>
          </a:prstGeom>
          <a:noFill/>
        </p:spPr>
        <p:txBody>
          <a:bodyPr wrap="square" anchor="t">
            <a:spAutoFit/>
          </a:bodyPr>
          <a:lstStyle/>
          <a:p>
            <a:pPr algn="ctr">
              <a:lnSpc>
                <a:spcPct val="115000"/>
              </a:lnSpc>
            </a:pPr>
            <a:r>
              <a:rPr sz="1300" b="1" i="0">
                <a:solidFill>
                  <a:srgbClr val="6B7280"/>
                </a:solidFill>
                <a:latin typeface="Calibri"/>
              </a:rPr>
              <a:t>PART 2 — ANALYSIS OF THE PROBLEM AND THE APPROACH</a:t>
            </a:r>
          </a:p>
        </p:txBody>
      </p:sp>
      <p:sp>
        <p:nvSpPr>
          <p:cNvPr id="5" name="TextBox 4"/>
          <p:cNvSpPr txBox="1"/>
          <p:nvPr/>
        </p:nvSpPr>
        <p:spPr>
          <a:xfrm>
            <a:off x="731520" y="2057400"/>
            <a:ext cx="10728655" cy="1280160"/>
          </a:xfrm>
          <a:prstGeom prst="rect">
            <a:avLst/>
          </a:prstGeom>
          <a:noFill/>
        </p:spPr>
        <p:txBody>
          <a:bodyPr wrap="square" anchor="ctr">
            <a:spAutoFit/>
          </a:bodyPr>
          <a:lstStyle/>
          <a:p>
            <a:pPr algn="ctr">
              <a:lnSpc>
                <a:spcPct val="115000"/>
              </a:lnSpc>
            </a:pPr>
            <a:r>
              <a:rPr sz="3400" b="1" i="0">
                <a:solidFill>
                  <a:srgbClr val="2563EB"/>
                </a:solidFill>
                <a:latin typeface="Calibri"/>
              </a:rPr>
              <a:t>The Real Analysis:</a:t>
            </a:r>
          </a:p>
          <a:p>
            <a:pPr algn="ctr">
              <a:lnSpc>
                <a:spcPct val="115000"/>
              </a:lnSpc>
            </a:pPr>
            <a:r>
              <a:rPr sz="3400" b="1" i="0">
                <a:solidFill>
                  <a:srgbClr val="2563EB"/>
                </a:solidFill>
                <a:latin typeface="Calibri"/>
              </a:rPr>
              <a:t>What Was Actually Broken</a:t>
            </a:r>
          </a:p>
        </p:txBody>
      </p:sp>
      <p:sp>
        <p:nvSpPr>
          <p:cNvPr id="6" name="TextBox 5"/>
          <p:cNvSpPr txBox="1"/>
          <p:nvPr/>
        </p:nvSpPr>
        <p:spPr>
          <a:xfrm>
            <a:off x="1188720" y="3520440"/>
            <a:ext cx="9814255" cy="1645920"/>
          </a:xfrm>
          <a:prstGeom prst="rect">
            <a:avLst/>
          </a:prstGeom>
          <a:noFill/>
        </p:spPr>
        <p:txBody>
          <a:bodyPr wrap="square" anchor="t">
            <a:spAutoFit/>
          </a:bodyPr>
          <a:lstStyle/>
          <a:p>
            <a:pPr algn="ctr">
              <a:lnSpc>
                <a:spcPct val="130000"/>
              </a:lnSpc>
            </a:pPr>
            <a:r>
              <a:rPr sz="2000" b="0" i="0">
                <a:solidFill>
                  <a:srgbClr val="1F2937"/>
                </a:solidFill>
                <a:latin typeface="Calibri"/>
              </a:rPr>
              <a:t>The agent is right most of the time — not all of the time.</a:t>
            </a:r>
          </a:p>
          <a:p>
            <a:pPr algn="ctr">
              <a:lnSpc>
                <a:spcPct val="130000"/>
              </a:lnSpc>
            </a:pPr>
            <a:r>
              <a:rPr sz="2000" b="0" i="0">
                <a:solidFill>
                  <a:srgbClr val="1F2937"/>
                </a:solidFill>
                <a:latin typeface="Calibri"/>
              </a:rPr>
              <a:t>With no checkpoints, small errors don't get caught — they compound.</a:t>
            </a:r>
          </a:p>
          <a:p>
            <a:pPr algn="ctr">
              <a:lnSpc>
                <a:spcPct val="130000"/>
              </a:lnSpc>
            </a:pPr>
            <a:r>
              <a:rPr sz="2000" b="0" i="0">
                <a:solidFill>
                  <a:srgbClr val="1F2937"/>
                </a:solidFill>
                <a:latin typeface="Calibri"/>
              </a:rPr>
              <a:t>The real bottleneck: no human-reviewed decision process.</a:t>
            </a:r>
          </a:p>
          <a:p>
            <a:pPr algn="ctr">
              <a:lnSpc>
                <a:spcPct val="130000"/>
              </a:lnSpc>
            </a:pPr>
            <a:r>
              <a:rPr sz="2000" b="0" i="0">
                <a:solidFill>
                  <a:srgbClr val="1F2937"/>
                </a:solidFill>
                <a:latin typeface="Calibri"/>
              </a:rPr>
              <a:t/>
            </a:r>
          </a:p>
          <a:p>
            <a:pPr algn="ctr">
              <a:lnSpc>
                <a:spcPct val="130000"/>
              </a:lnSpc>
            </a:pPr>
            <a:r>
              <a:rPr sz="2000" b="0" i="0">
                <a:solidFill>
                  <a:srgbClr val="1F2937"/>
                </a:solidFill>
                <a:latin typeface="Calibri"/>
              </a:rPr>
              <a:t>So the real question isn't “can an agent write code.”</a:t>
            </a:r>
          </a:p>
          <a:p>
            <a:pPr algn="ctr">
              <a:lnSpc>
                <a:spcPct val="130000"/>
              </a:lnSpc>
            </a:pPr>
            <a:r>
              <a:rPr sz="2000" b="0" i="0">
                <a:solidFill>
                  <a:srgbClr val="1F2937"/>
                </a:solidFill>
                <a:latin typeface="Calibri"/>
              </a:rPr>
              <a:t>It's: what process makes agent-built software reliable?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System Architecture</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6</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Nginx → Spring Boot API → MySQL</a:t>
            </a:r>
          </a:p>
          <a:p>
            <a:pPr>
              <a:lnSpc>
                <a:spcPct val="115000"/>
              </a:lnSpc>
              <a:spcAft>
                <a:spcPts val="1000"/>
              </a:spcAft>
            </a:pPr>
            <a:r>
              <a:rPr sz="2000" b="1">
                <a:solidFill>
                  <a:srgbClr val="2563EB"/>
                </a:solidFill>
                <a:latin typeface="Calibri"/>
              </a:rPr>
              <a:t>•  </a:t>
            </a:r>
            <a:r>
              <a:rPr sz="2000">
                <a:solidFill>
                  <a:srgbClr val="1F2937"/>
                </a:solidFill>
                <a:latin typeface="Calibri"/>
              </a:rPr>
              <a:t>Blockly grading via embedded Rhino sandbox</a:t>
            </a:r>
          </a:p>
          <a:p>
            <a:pPr>
              <a:lnSpc>
                <a:spcPct val="115000"/>
              </a:lnSpc>
              <a:spcAft>
                <a:spcPts val="1000"/>
              </a:spcAft>
            </a:pPr>
            <a:r>
              <a:rPr sz="2000" b="1">
                <a:solidFill>
                  <a:srgbClr val="2563EB"/>
                </a:solidFill>
                <a:latin typeface="Calibri"/>
              </a:rPr>
              <a:t>•  </a:t>
            </a:r>
            <a:r>
              <a:rPr sz="2000">
                <a:solidFill>
                  <a:srgbClr val="1F2937"/>
                </a:solidFill>
                <a:latin typeface="Calibri"/>
              </a:rPr>
              <a:t>Prometheus + Grafana monitoring</a:t>
            </a:r>
          </a:p>
        </p:txBody>
      </p:sp>
      <p:pic>
        <p:nvPicPr>
          <p:cNvPr id="9" name="Picture 8" descr="architecture.png"/>
          <p:cNvPicPr>
            <a:picLocks noChangeAspect="1"/>
          </p:cNvPicPr>
          <p:nvPr/>
        </p:nvPicPr>
        <p:blipFill>
          <a:blip r:embed="rId2"/>
          <a:stretch>
            <a:fillRect/>
          </a:stretch>
        </p:blipFill>
        <p:spPr>
          <a:xfrm>
            <a:off x="3256792" y="3611880"/>
            <a:ext cx="5678110" cy="2743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Runtime: Seven Containers, One Server</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7</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nginx · api-server · mysql · sandbox</a:t>
            </a:r>
          </a:p>
          <a:p>
            <a:pPr>
              <a:lnSpc>
                <a:spcPct val="115000"/>
              </a:lnSpc>
              <a:spcAft>
                <a:spcPts val="1000"/>
              </a:spcAft>
            </a:pPr>
            <a:r>
              <a:rPr sz="2000" b="1">
                <a:solidFill>
                  <a:srgbClr val="2563EB"/>
                </a:solidFill>
                <a:latin typeface="Calibri"/>
              </a:rPr>
              <a:t>•  </a:t>
            </a:r>
            <a:r>
              <a:rPr sz="2000">
                <a:solidFill>
                  <a:srgbClr val="1F2937"/>
                </a:solidFill>
                <a:latin typeface="Calibri"/>
              </a:rPr>
              <a:t>prometheus · grafana · backup</a:t>
            </a:r>
          </a:p>
          <a:p>
            <a:pPr>
              <a:lnSpc>
                <a:spcPct val="115000"/>
              </a:lnSpc>
              <a:spcAft>
                <a:spcPts val="1000"/>
              </a:spcAft>
            </a:pPr>
            <a:r>
              <a:rPr sz="2000" b="1">
                <a:solidFill>
                  <a:srgbClr val="2563EB"/>
                </a:solidFill>
                <a:latin typeface="Calibri"/>
              </a:rPr>
              <a:t>•  </a:t>
            </a:r>
            <a:r>
              <a:rPr sz="2000">
                <a:solidFill>
                  <a:srgbClr val="1F2937"/>
                </a:solidFill>
                <a:latin typeface="Calibri"/>
              </a:rPr>
              <a:t>Single server — no Kubernetes, no Redis, no Kafka</a:t>
            </a:r>
          </a:p>
        </p:txBody>
      </p:sp>
      <p:pic>
        <p:nvPicPr>
          <p:cNvPr id="9" name="Picture 8" descr="containers.png"/>
          <p:cNvPicPr>
            <a:picLocks noChangeAspect="1"/>
          </p:cNvPicPr>
          <p:nvPr/>
        </p:nvPicPr>
        <p:blipFill>
          <a:blip r:embed="rId2"/>
          <a:stretch>
            <a:fillRect/>
          </a:stretch>
        </p:blipFill>
        <p:spPr>
          <a:xfrm>
            <a:off x="3256792" y="3611880"/>
            <a:ext cx="5678110" cy="2743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Tech Stack &amp; Safety Design</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8</a:t>
            </a:r>
          </a:p>
        </p:txBody>
      </p:sp>
      <p:sp>
        <p:nvSpPr>
          <p:cNvPr id="8" name="TextBox 7"/>
          <p:cNvSpPr txBox="1"/>
          <p:nvPr/>
        </p:nvSpPr>
        <p:spPr>
          <a:xfrm>
            <a:off x="502920" y="1600200"/>
            <a:ext cx="11185855" cy="470916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Frontend: React 18 · Vite · Blockly</a:t>
            </a:r>
          </a:p>
          <a:p>
            <a:pPr>
              <a:lnSpc>
                <a:spcPct val="115000"/>
              </a:lnSpc>
              <a:spcAft>
                <a:spcPts val="1000"/>
              </a:spcAft>
            </a:pPr>
            <a:r>
              <a:rPr sz="2000" b="1">
                <a:solidFill>
                  <a:srgbClr val="2563EB"/>
                </a:solidFill>
                <a:latin typeface="Calibri"/>
              </a:rPr>
              <a:t>•  </a:t>
            </a:r>
            <a:r>
              <a:rPr sz="2000">
                <a:solidFill>
                  <a:srgbClr val="1F2937"/>
                </a:solidFill>
                <a:latin typeface="Calibri"/>
              </a:rPr>
              <a:t>Backend: Spring Boot 3.5 · Spring Security+JWT · Flyway</a:t>
            </a:r>
          </a:p>
          <a:p>
            <a:pPr>
              <a:lnSpc>
                <a:spcPct val="115000"/>
              </a:lnSpc>
              <a:spcAft>
                <a:spcPts val="1000"/>
              </a:spcAft>
            </a:pPr>
            <a:r>
              <a:rPr sz="2000" b="1">
                <a:solidFill>
                  <a:srgbClr val="2563EB"/>
                </a:solidFill>
                <a:latin typeface="Calibri"/>
              </a:rPr>
              <a:t>•  </a:t>
            </a:r>
            <a:r>
              <a:rPr sz="2000">
                <a:solidFill>
                  <a:srgbClr val="1F2937"/>
                </a:solidFill>
                <a:latin typeface="Calibri"/>
              </a:rPr>
              <a:t>Immutable exercise versions — every edit is a new version</a:t>
            </a:r>
          </a:p>
          <a:p>
            <a:pPr>
              <a:lnSpc>
                <a:spcPct val="115000"/>
              </a:lnSpc>
              <a:spcAft>
                <a:spcPts val="1000"/>
              </a:spcAft>
            </a:pPr>
            <a:r>
              <a:rPr sz="2000" b="1">
                <a:solidFill>
                  <a:srgbClr val="2563EB"/>
                </a:solidFill>
                <a:latin typeface="Calibri"/>
              </a:rPr>
              <a:t>•  </a:t>
            </a:r>
            <a:r>
              <a:rPr sz="2000">
                <a:solidFill>
                  <a:srgbClr val="1F2937"/>
                </a:solidFill>
                <a:latin typeface="Calibri"/>
              </a:rPr>
              <a:t>Soft deletes only — never hard delete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057400"/>
            <a:ext cx="10728655" cy="1280160"/>
          </a:xfrm>
          <a:prstGeom prst="rect">
            <a:avLst/>
          </a:prstGeom>
          <a:noFill/>
        </p:spPr>
        <p:txBody>
          <a:bodyPr wrap="square" anchor="ctr">
            <a:spAutoFit/>
          </a:bodyPr>
          <a:lstStyle/>
          <a:p>
            <a:pPr algn="ctr">
              <a:lnSpc>
                <a:spcPct val="115000"/>
              </a:lnSpc>
            </a:pPr>
            <a:r>
              <a:rPr sz="4400" b="1" i="0">
                <a:solidFill>
                  <a:srgbClr val="1F2937"/>
                </a:solidFill>
                <a:latin typeface="Calibri"/>
              </a:rPr>
              <a:t>How Was This Actually Built?</a:t>
            </a:r>
          </a:p>
        </p:txBody>
      </p:sp>
      <p:sp>
        <p:nvSpPr>
          <p:cNvPr id="5" name="TextBox 4"/>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The Fix: A Spec-Driven Agentic Pipeline</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10</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Brainstorm → Design → Plan → Task Briefs</a:t>
            </a:r>
          </a:p>
          <a:p>
            <a:pPr>
              <a:lnSpc>
                <a:spcPct val="115000"/>
              </a:lnSpc>
              <a:spcAft>
                <a:spcPts val="1000"/>
              </a:spcAft>
            </a:pPr>
            <a:r>
              <a:rPr sz="2000" b="1">
                <a:solidFill>
                  <a:srgbClr val="2563EB"/>
                </a:solidFill>
                <a:latin typeface="Calibri"/>
              </a:rPr>
              <a:t>•  </a:t>
            </a:r>
            <a:r>
              <a:rPr sz="2000">
                <a:solidFill>
                  <a:srgbClr val="1F2937"/>
                </a:solidFill>
                <a:latin typeface="Calibri"/>
              </a:rPr>
              <a:t>→ TDD Implementation → Code Review → Deploy</a:t>
            </a:r>
          </a:p>
          <a:p>
            <a:pPr>
              <a:lnSpc>
                <a:spcPct val="115000"/>
              </a:lnSpc>
              <a:spcAft>
                <a:spcPts val="1000"/>
              </a:spcAft>
            </a:pPr>
            <a:r>
              <a:rPr sz="2000" b="1">
                <a:solidFill>
                  <a:srgbClr val="2563EB"/>
                </a:solidFill>
                <a:latin typeface="Calibri"/>
              </a:rPr>
              <a:t>•  </a:t>
            </a:r>
            <a:r>
              <a:rPr sz="2000">
                <a:solidFill>
                  <a:srgbClr val="1F2937"/>
                </a:solidFill>
                <a:latin typeface="Calibri"/>
              </a:rPr>
              <a:t>Every step leaves a durable, checkable artifact</a:t>
            </a:r>
          </a:p>
        </p:txBody>
      </p:sp>
      <p:pic>
        <p:nvPicPr>
          <p:cNvPr id="9" name="Picture 8" descr="pipeline.png"/>
          <p:cNvPicPr>
            <a:picLocks noChangeAspect="1"/>
          </p:cNvPicPr>
          <p:nvPr/>
        </p:nvPicPr>
        <p:blipFill>
          <a:blip r:embed="rId2"/>
          <a:stretch>
            <a:fillRect/>
          </a:stretch>
        </p:blipFill>
        <p:spPr>
          <a:xfrm>
            <a:off x="2748490" y="3611880"/>
            <a:ext cx="6694714" cy="2743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Case Study: One Bug, Start to Finish</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11</a:t>
            </a:r>
          </a:p>
        </p:txBody>
      </p:sp>
      <p:sp>
        <p:nvSpPr>
          <p:cNvPr id="8" name="Rectangle 7"/>
          <p:cNvSpPr/>
          <p:nvPr/>
        </p:nvSpPr>
        <p:spPr>
          <a:xfrm>
            <a:off x="502920" y="1645920"/>
            <a:ext cx="11185855" cy="1737360"/>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10512"/>
            <a:ext cx="10728655" cy="1408176"/>
          </a:xfrm>
          <a:prstGeom prst="rect">
            <a:avLst/>
          </a:prstGeom>
          <a:noFill/>
        </p:spPr>
        <p:txBody>
          <a:bodyPr wrap="square">
            <a:spAutoFit/>
          </a:bodyPr>
          <a:lstStyle/>
          <a:p>
            <a:pPr>
              <a:lnSpc>
                <a:spcPct val="120000"/>
              </a:lnSpc>
              <a:spcAft>
                <a:spcPts val="400"/>
              </a:spcAft>
            </a:pPr>
            <a:r>
              <a:rPr sz="1550" b="0">
                <a:solidFill>
                  <a:srgbClr val="6B7280"/>
                </a:solidFill>
                <a:latin typeface="Consolas"/>
              </a:rPr>
              <a:t>// SubmissionController.java — before</a:t>
            </a:r>
          </a:p>
          <a:p>
            <a:pPr>
              <a:lnSpc>
                <a:spcPct val="120000"/>
              </a:lnSpc>
              <a:spcAft>
                <a:spcPts val="400"/>
              </a:spcAft>
            </a:pPr>
            <a:r>
              <a:rPr sz="1550" b="1">
                <a:solidFill>
                  <a:srgbClr val="DC2626"/>
                </a:solidFill>
                <a:latin typeface="Consolas"/>
              </a:rPr>
              <a:t>@RequestParam(defaultValue = "IMPORT") String source</a:t>
            </a:r>
          </a:p>
          <a:p>
            <a:pPr>
              <a:lnSpc>
                <a:spcPct val="120000"/>
              </a:lnSpc>
              <a:spcAft>
                <a:spcPts val="400"/>
              </a:spcAft>
            </a:pPr>
            <a:r>
              <a:rPr sz="1550" b="0">
                <a:solidFill>
                  <a:srgbClr val="6B7280"/>
                </a:solidFill>
                <a:latin typeface="Consolas"/>
              </a:rPr>
              <a:t>// Spring rewrites BOTH a missing param AND an explicit empty</a:t>
            </a:r>
          </a:p>
          <a:p>
            <a:pPr>
              <a:lnSpc>
                <a:spcPct val="120000"/>
              </a:lnSpc>
              <a:spcAft>
                <a:spcPts val="400"/>
              </a:spcAft>
            </a:pPr>
            <a:r>
              <a:rPr sz="1550" b="0">
                <a:solidFill>
                  <a:srgbClr val="6B7280"/>
                </a:solidFill>
                <a:latin typeface="Consolas"/>
              </a:rPr>
              <a:t>// string back to "IMPORT" — “All sources” silently broke</a:t>
            </a:r>
          </a:p>
        </p:txBody>
      </p:sp>
      <p:sp>
        <p:nvSpPr>
          <p:cNvPr id="10" name="Rectangle 9"/>
          <p:cNvSpPr/>
          <p:nvPr/>
        </p:nvSpPr>
        <p:spPr>
          <a:xfrm>
            <a:off x="502920" y="3611880"/>
            <a:ext cx="11185855" cy="1051560"/>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76472"/>
            <a:ext cx="10728655" cy="722375"/>
          </a:xfrm>
          <a:prstGeom prst="rect">
            <a:avLst/>
          </a:prstGeom>
          <a:noFill/>
        </p:spPr>
        <p:txBody>
          <a:bodyPr wrap="square">
            <a:spAutoFit/>
          </a:bodyPr>
          <a:lstStyle/>
          <a:p>
            <a:pPr>
              <a:lnSpc>
                <a:spcPct val="120000"/>
              </a:lnSpc>
              <a:spcAft>
                <a:spcPts val="400"/>
              </a:spcAft>
            </a:pPr>
            <a:r>
              <a:rPr sz="1550" b="0">
                <a:solidFill>
                  <a:srgbClr val="6B7280"/>
                </a:solidFill>
                <a:latin typeface="Consolas"/>
              </a:rPr>
              <a:t>// after — fixed</a:t>
            </a:r>
          </a:p>
          <a:p>
            <a:pPr>
              <a:lnSpc>
                <a:spcPct val="120000"/>
              </a:lnSpc>
              <a:spcAft>
                <a:spcPts val="400"/>
              </a:spcAft>
            </a:pPr>
            <a:r>
              <a:rPr sz="1550" b="1">
                <a:solidFill>
                  <a:srgbClr val="059669"/>
                </a:solidFill>
                <a:latin typeface="Consolas"/>
              </a:rPr>
              <a:t>@RequestParam(required = false) String source</a:t>
            </a:r>
          </a:p>
        </p:txBody>
      </p:sp>
      <p:sp>
        <p:nvSpPr>
          <p:cNvPr id="12" name="TextBox 11"/>
          <p:cNvSpPr txBox="1"/>
          <p:nvPr/>
        </p:nvSpPr>
        <p:spPr>
          <a:xfrm>
            <a:off x="502920" y="4892040"/>
            <a:ext cx="11185855" cy="1463040"/>
          </a:xfrm>
          <a:prstGeom prst="rect">
            <a:avLst/>
          </a:prstGeom>
          <a:noFill/>
        </p:spPr>
        <p:txBody>
          <a:bodyPr wrap="square" anchor="t">
            <a:spAutoFit/>
          </a:bodyPr>
          <a:lstStyle/>
          <a:p>
            <a:pPr algn="l">
              <a:lnSpc>
                <a:spcPct val="130000"/>
              </a:lnSpc>
            </a:pPr>
            <a:r>
              <a:rPr sz="1800" b="0" i="0">
                <a:solidFill>
                  <a:srgbClr val="1F2937"/>
                </a:solidFill>
                <a:latin typeface="Calibri"/>
              </a:rPr>
              <a:t>Real chain followed: design doc → implementation plan → RED failing test</a:t>
            </a:r>
          </a:p>
          <a:p>
            <a:pPr algn="l">
              <a:lnSpc>
                <a:spcPct val="130000"/>
              </a:lnSpc>
            </a:pPr>
            <a:r>
              <a:rPr sz="1800" b="0" i="0">
                <a:solidFill>
                  <a:srgbClr val="1F2937"/>
                </a:solidFill>
                <a:latin typeface="Calibri"/>
              </a:rPr>
              <a:t>→ GREEN fix → commit. Not a hypothetical — preserved in this project's own</a:t>
            </a:r>
          </a:p>
          <a:p>
            <a:pPr algn="l">
              <a:lnSpc>
                <a:spcPct val="130000"/>
              </a:lnSpc>
            </a:pPr>
            <a:r>
              <a:rPr sz="1800" b="0" i="0">
                <a:solidFill>
                  <a:srgbClr val="1F2937"/>
                </a:solidFill>
                <a:latin typeface="Calibri"/>
              </a:rPr>
              <a:t>docs and git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Task Dispatch + Enforced TDD</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12</a:t>
            </a:r>
          </a:p>
        </p:txBody>
      </p:sp>
      <p:sp>
        <p:nvSpPr>
          <p:cNvPr id="8" name="TextBox 7"/>
          <p:cNvSpPr txBox="1"/>
          <p:nvPr/>
        </p:nvSpPr>
        <p:spPr>
          <a:xfrm>
            <a:off x="502920" y="1600200"/>
            <a:ext cx="11185855" cy="169164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Each task: independent brief (files, interfaces, steps)</a:t>
            </a:r>
          </a:p>
          <a:p>
            <a:pPr>
              <a:lnSpc>
                <a:spcPct val="115000"/>
              </a:lnSpc>
              <a:spcAft>
                <a:spcPts val="1000"/>
              </a:spcAft>
            </a:pPr>
            <a:r>
              <a:rPr sz="2000" b="1">
                <a:solidFill>
                  <a:srgbClr val="2563EB"/>
                </a:solidFill>
                <a:latin typeface="Calibri"/>
              </a:rPr>
              <a:t>•  </a:t>
            </a:r>
            <a:r>
              <a:rPr sz="2000">
                <a:solidFill>
                  <a:srgbClr val="1F2937"/>
                </a:solidFill>
                <a:latin typeface="Calibri"/>
              </a:rPr>
              <a:t>Implementer returns RED → GREEN evidence</a:t>
            </a:r>
          </a:p>
          <a:p>
            <a:pPr>
              <a:lnSpc>
                <a:spcPct val="115000"/>
              </a:lnSpc>
              <a:spcAft>
                <a:spcPts val="1000"/>
              </a:spcAft>
            </a:pPr>
            <a:r>
              <a:rPr sz="2000" b="1">
                <a:solidFill>
                  <a:srgbClr val="2563EB"/>
                </a:solidFill>
                <a:latin typeface="Calibri"/>
              </a:rPr>
              <a:t>•  </a:t>
            </a:r>
            <a:r>
              <a:rPr sz="2000">
                <a:solidFill>
                  <a:srgbClr val="1F2937"/>
                </a:solidFill>
                <a:latin typeface="Calibri"/>
              </a:rPr>
              <a:t>Report includes the commit hash</a:t>
            </a:r>
          </a:p>
        </p:txBody>
      </p:sp>
      <p:pic>
        <p:nvPicPr>
          <p:cNvPr id="9" name="Picture 8" descr="task_dispatch.png"/>
          <p:cNvPicPr>
            <a:picLocks noChangeAspect="1"/>
          </p:cNvPicPr>
          <p:nvPr/>
        </p:nvPicPr>
        <p:blipFill>
          <a:blip r:embed="rId2"/>
          <a:stretch>
            <a:fillRect/>
          </a:stretch>
        </p:blipFill>
        <p:spPr>
          <a:xfrm>
            <a:off x="1892189" y="3611880"/>
            <a:ext cx="8407315" cy="2743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Automated Code Review + Self-Correction</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13</a:t>
            </a:r>
          </a:p>
        </p:txBody>
      </p:sp>
      <p:sp>
        <p:nvSpPr>
          <p:cNvPr id="8" name="TextBox 7"/>
          <p:cNvSpPr txBox="1"/>
          <p:nvPr/>
        </p:nvSpPr>
        <p:spPr>
          <a:xfrm>
            <a:off x="502920" y="1600200"/>
            <a:ext cx="11185855" cy="137160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Every diff reviewed: Critical / Important / Minor</a:t>
            </a:r>
          </a:p>
          <a:p>
            <a:pPr>
              <a:lnSpc>
                <a:spcPct val="115000"/>
              </a:lnSpc>
              <a:spcAft>
                <a:spcPts val="1000"/>
              </a:spcAft>
            </a:pPr>
            <a:r>
              <a:rPr sz="2000" b="1">
                <a:solidFill>
                  <a:srgbClr val="2563EB"/>
                </a:solidFill>
                <a:latin typeface="Calibri"/>
              </a:rPr>
              <a:t>•  </a:t>
            </a:r>
            <a:r>
              <a:rPr sz="2000">
                <a:solidFill>
                  <a:srgbClr val="1F2937"/>
                </a:solidFill>
                <a:latin typeface="Calibri"/>
              </a:rPr>
              <a:t>Full-branch final review before merge</a:t>
            </a:r>
          </a:p>
        </p:txBody>
      </p:sp>
      <p:sp>
        <p:nvSpPr>
          <p:cNvPr id="9" name="Rectangle 8"/>
          <p:cNvSpPr/>
          <p:nvPr/>
        </p:nvSpPr>
        <p:spPr>
          <a:xfrm>
            <a:off x="502920" y="3017520"/>
            <a:ext cx="11185855" cy="2514600"/>
          </a:xfrm>
          <a:prstGeom prst="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82112"/>
            <a:ext cx="10728655" cy="2185416"/>
          </a:xfrm>
          <a:prstGeom prst="rect">
            <a:avLst/>
          </a:prstGeom>
          <a:noFill/>
        </p:spPr>
        <p:txBody>
          <a:bodyPr wrap="square">
            <a:spAutoFit/>
          </a:bodyPr>
          <a:lstStyle/>
          <a:p>
            <a:pPr>
              <a:lnSpc>
                <a:spcPct val="120000"/>
              </a:lnSpc>
              <a:spcAft>
                <a:spcPts val="400"/>
              </a:spcAft>
            </a:pPr>
            <a:r>
              <a:rPr sz="1450" b="0">
                <a:solidFill>
                  <a:srgbClr val="6B7280"/>
                </a:solidFill>
                <a:latin typeface="Calibri"/>
              </a:rPr>
              <a:t>From the project's own SDD progress ledger:</a:t>
            </a:r>
          </a:p>
          <a:p>
            <a:pPr>
              <a:lnSpc>
                <a:spcPct val="120000"/>
              </a:lnSpc>
              <a:spcAft>
                <a:spcPts val="400"/>
              </a:spcAft>
            </a:pPr>
            <a:r>
              <a:rPr sz="1450" b="0">
                <a:solidFill>
                  <a:srgbClr val="1F2937"/>
                </a:solidFill>
                <a:latin typeface="Calibri"/>
              </a:rPr>
              <a:t/>
            </a:r>
          </a:p>
          <a:p>
            <a:pPr>
              <a:lnSpc>
                <a:spcPct val="120000"/>
              </a:lnSpc>
              <a:spcAft>
                <a:spcPts val="400"/>
              </a:spcAft>
            </a:pPr>
            <a:r>
              <a:rPr sz="1450" b="0">
                <a:solidFill>
                  <a:srgbClr val="1F2937"/>
                </a:solidFill>
                <a:latin typeface="Calibri"/>
              </a:rPr>
              <a:t>“Task 4 fix-2 (self-fix, no dispatch): re-review of the concurrency</a:t>
            </a:r>
          </a:p>
          <a:p>
            <a:pPr>
              <a:lnSpc>
                <a:spcPct val="120000"/>
              </a:lnSpc>
              <a:spcAft>
                <a:spcPts val="400"/>
              </a:spcAft>
            </a:pPr>
            <a:r>
              <a:rPr sz="1450" b="0">
                <a:solidFill>
                  <a:srgbClr val="1F2937"/>
                </a:solidFill>
                <a:latin typeface="Calibri"/>
              </a:rPr>
              <a:t>fix found a Critical bug — with IDENTITY generation, the new row's</a:t>
            </a:r>
          </a:p>
          <a:p>
            <a:pPr>
              <a:lnSpc>
                <a:spcPct val="120000"/>
              </a:lnSpc>
              <a:spcAft>
                <a:spcPts val="400"/>
              </a:spcAft>
            </a:pPr>
            <a:r>
              <a:rPr sz="1450" b="0">
                <a:solidFill>
                  <a:srgbClr val="1F2937"/>
                </a:solidFill>
                <a:latin typeface="Calibri"/>
              </a:rPr>
              <a:t>INSERT ran before the flush of the old row's UPDATE... Fixed with</a:t>
            </a:r>
          </a:p>
          <a:p>
            <a:pPr>
              <a:lnSpc>
                <a:spcPct val="120000"/>
              </a:lnSpc>
              <a:spcAft>
                <a:spcPts val="400"/>
              </a:spcAft>
            </a:pPr>
            <a:r>
              <a:rPr sz="1450" b="0">
                <a:solidFill>
                  <a:srgbClr val="1F2937"/>
                </a:solidFill>
                <a:latin typeface="Calibri"/>
              </a:rPr>
              <a:t>saveAndFlush(); added a real end-to-end integration test proving</a:t>
            </a:r>
          </a:p>
          <a:p>
            <a:pPr>
              <a:lnSpc>
                <a:spcPct val="120000"/>
              </a:lnSpc>
              <a:spcAft>
                <a:spcPts val="400"/>
              </a:spcAft>
            </a:pPr>
            <a:r>
              <a:rPr sz="1450" b="0">
                <a:solidFill>
                  <a:srgbClr val="1F2937"/>
                </a:solidFill>
                <a:latin typeface="Calibri"/>
              </a:rPr>
              <a:t>double-submit works.”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What I Did vs. What the Agent Did</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14</a:t>
            </a:r>
          </a:p>
        </p:txBody>
      </p:sp>
      <p:graphicFrame>
        <p:nvGraphicFramePr>
          <p:cNvPr id="8" name="Table 7"/>
          <p:cNvGraphicFramePr>
            <a:graphicFrameLocks noGrp="1"/>
          </p:cNvGraphicFramePr>
          <p:nvPr/>
        </p:nvGraphicFramePr>
        <p:xfrm>
          <a:off x="502920" y="1691640"/>
          <a:ext cx="11185854" cy="3200400"/>
        </p:xfrm>
        <a:graphic>
          <a:graphicData uri="http://schemas.openxmlformats.org/drawingml/2006/table">
            <a:tbl>
              <a:tblPr firstRow="1" bandRow="1">
                <a:tableStyleId>{5C22544A-7EE6-4342-B048-85BDC9FD1C3A}</a:tableStyleId>
              </a:tblPr>
              <a:tblGrid>
                <a:gridCol w="5592927"/>
                <a:gridCol w="5592927"/>
              </a:tblGrid>
              <a:tr h="457200">
                <a:tc>
                  <a:txBody>
                    <a:bodyPr/>
                    <a:lstStyle/>
                    <a:p>
                      <a:pPr algn="ctr"/>
                      <a:r>
                        <a:rPr sz="1800" b="1">
                          <a:solidFill>
                            <a:srgbClr val="FFFFFF"/>
                          </a:solidFill>
                          <a:latin typeface="Calibri"/>
                        </a:rPr>
                        <a:t>Claude (the Agent)</a:t>
                      </a:r>
                    </a:p>
                  </a:txBody>
                  <a:tcPr anchor="ctr">
                    <a:solidFill>
                      <a:srgbClr val="2563EB"/>
                    </a:solidFill>
                  </a:tcPr>
                </a:tc>
                <a:tc>
                  <a:txBody>
                    <a:bodyPr/>
                    <a:lstStyle/>
                    <a:p>
                      <a:pPr algn="ctr"/>
                      <a:r>
                        <a:rPr sz="1800" b="1">
                          <a:solidFill>
                            <a:srgbClr val="FFFFFF"/>
                          </a:solidFill>
                          <a:latin typeface="Calibri"/>
                        </a:rPr>
                        <a:t>Me</a:t>
                      </a:r>
                    </a:p>
                  </a:txBody>
                  <a:tcPr anchor="ctr">
                    <a:solidFill>
                      <a:srgbClr val="1F2937"/>
                    </a:solidFill>
                  </a:tcPr>
                </a:tc>
              </a:tr>
              <a:tr h="457200">
                <a:tc>
                  <a:txBody>
                    <a:bodyPr wrap="square"/>
                    <a:lstStyle/>
                    <a:p>
                      <a:r>
                        <a:rPr sz="1450">
                          <a:solidFill>
                            <a:srgbClr val="1F2937"/>
                          </a:solidFill>
                          <a:latin typeface="Calibri"/>
                        </a:rPr>
                        <a:t>Wrote ~100% of the implementation code</a:t>
                      </a:r>
                    </a:p>
                  </a:txBody>
                  <a:tcPr anchor="ctr" marT="54864" marB="54864">
                    <a:solidFill>
                      <a:srgbClr val="FFFFFF"/>
                    </a:solidFill>
                  </a:tcPr>
                </a:tc>
                <a:tc>
                  <a:txBody>
                    <a:bodyPr wrap="square"/>
                    <a:lstStyle/>
                    <a:p>
                      <a:r>
                        <a:rPr sz="1450">
                          <a:solidFill>
                            <a:srgbClr val="1F2937"/>
                          </a:solidFill>
                          <a:latin typeface="Calibri"/>
                        </a:rPr>
                        <a:t>Identified the real OLE problem firsthand</a:t>
                      </a:r>
                    </a:p>
                  </a:txBody>
                  <a:tcPr anchor="ctr" marT="54864" marB="54864">
                    <a:solidFill>
                      <a:srgbClr val="FFFFFF"/>
                    </a:solidFill>
                  </a:tcPr>
                </a:tc>
              </a:tr>
              <a:tr h="457200">
                <a:tc>
                  <a:txBody>
                    <a:bodyPr wrap="square"/>
                    <a:lstStyle/>
                    <a:p>
                      <a:r>
                        <a:rPr sz="1450">
                          <a:solidFill>
                            <a:srgbClr val="1F2937"/>
                          </a:solidFill>
                          <a:latin typeface="Calibri"/>
                        </a:rPr>
                        <a:t>Drafted design docs/plans from my specs</a:t>
                      </a:r>
                    </a:p>
                  </a:txBody>
                  <a:tcPr anchor="ctr" marT="54864" marB="54864">
                    <a:solidFill>
                      <a:srgbClr val="F8FAFC"/>
                    </a:solidFill>
                  </a:tcPr>
                </a:tc>
                <a:tc>
                  <a:txBody>
                    <a:bodyPr wrap="square"/>
                    <a:lstStyle/>
                    <a:p>
                      <a:r>
                        <a:rPr sz="1450">
                          <a:solidFill>
                            <a:srgbClr val="1F2937"/>
                          </a:solidFill>
                          <a:latin typeface="Calibri"/>
                        </a:rPr>
                        <a:t>Wrote requirements — personas, acceptance criteria, edge cases</a:t>
                      </a:r>
                    </a:p>
                  </a:txBody>
                  <a:tcPr anchor="ctr" marT="54864" marB="54864">
                    <a:solidFill>
                      <a:srgbClr val="F8FAFC"/>
                    </a:solidFill>
                  </a:tcPr>
                </a:tc>
              </a:tr>
              <a:tr h="457200">
                <a:tc>
                  <a:txBody>
                    <a:bodyPr wrap="square"/>
                    <a:lstStyle/>
                    <a:p>
                      <a:r>
                        <a:rPr sz="1450">
                          <a:solidFill>
                            <a:srgbClr val="1F2937"/>
                          </a:solidFill>
                          <a:latin typeface="Calibri"/>
                        </a:rPr>
                        <a:t>Executed TDD steps, ran code review</a:t>
                      </a:r>
                    </a:p>
                  </a:txBody>
                  <a:tcPr anchor="ctr" marT="54864" marB="54864">
                    <a:solidFill>
                      <a:srgbClr val="FFFFFF"/>
                    </a:solidFill>
                  </a:tcPr>
                </a:tc>
                <a:tc>
                  <a:txBody>
                    <a:bodyPr wrap="square"/>
                    <a:lstStyle/>
                    <a:p>
                      <a:r>
                        <a:rPr sz="1450">
                          <a:solidFill>
                            <a:srgbClr val="1F2937"/>
                          </a:solidFill>
                          <a:latin typeface="Calibri"/>
                        </a:rPr>
                        <a:t>Made irreversible architecture &amp; scope calls</a:t>
                      </a:r>
                    </a:p>
                  </a:txBody>
                  <a:tcPr anchor="ctr" marT="54864" marB="54864">
                    <a:solidFill>
                      <a:srgbClr val="FFFFFF"/>
                    </a:solidFill>
                  </a:tcPr>
                </a:tc>
              </a:tr>
              <a:tr h="457200">
                <a:tc>
                  <a:txBody>
                    <a:bodyPr wrap="square"/>
                    <a:lstStyle/>
                    <a:p>
                      <a:r>
                        <a:rPr sz="1450">
                          <a:solidFill>
                            <a:srgbClr val="1F2937"/>
                          </a:solidFill>
                          <a:latin typeface="Calibri"/>
                        </a:rPr>
                        <a:t/>
                      </a:r>
                    </a:p>
                  </a:txBody>
                  <a:tcPr anchor="ctr" marT="54864" marB="54864">
                    <a:solidFill>
                      <a:srgbClr val="F8FAFC"/>
                    </a:solidFill>
                  </a:tcPr>
                </a:tc>
                <a:tc>
                  <a:txBody>
                    <a:bodyPr wrap="square"/>
                    <a:lstStyle/>
                    <a:p>
                      <a:r>
                        <a:rPr sz="1450">
                          <a:solidFill>
                            <a:srgbClr val="1F2937"/>
                          </a:solidFill>
                          <a:latin typeface="Calibri"/>
                        </a:rPr>
                        <a:t>Designed &amp; enforced this whole pipeline</a:t>
                      </a:r>
                    </a:p>
                  </a:txBody>
                  <a:tcPr anchor="ctr" marT="54864" marB="54864">
                    <a:solidFill>
                      <a:srgbClr val="F8FAFC"/>
                    </a:solidFill>
                  </a:tcPr>
                </a:tc>
              </a:tr>
              <a:tr h="457200">
                <a:tc>
                  <a:txBody>
                    <a:bodyPr wrap="square"/>
                    <a:lstStyle/>
                    <a:p>
                      <a:r>
                        <a:rPr sz="1450">
                          <a:solidFill>
                            <a:srgbClr val="1F2937"/>
                          </a:solidFill>
                          <a:latin typeface="Calibri"/>
                        </a:rPr>
                        <a:t/>
                      </a:r>
                    </a:p>
                  </a:txBody>
                  <a:tcPr anchor="ctr" marT="54864" marB="54864">
                    <a:solidFill>
                      <a:srgbClr val="FFFFFF"/>
                    </a:solidFill>
                  </a:tcPr>
                </a:tc>
                <a:tc>
                  <a:txBody>
                    <a:bodyPr wrap="square"/>
                    <a:lstStyle/>
                    <a:p>
                      <a:r>
                        <a:rPr sz="1450">
                          <a:solidFill>
                            <a:srgbClr val="1F2937"/>
                          </a:solidFill>
                          <a:latin typeface="Calibri"/>
                        </a:rPr>
                        <a:t>Resolved judgment calls the agent couldn't</a:t>
                      </a:r>
                    </a:p>
                  </a:txBody>
                  <a:tcPr anchor="ctr" marT="54864" marB="54864">
                    <a:solidFill>
                      <a:srgbClr val="FFFFFF"/>
                    </a:solidFill>
                  </a:tcPr>
                </a:tc>
              </a:tr>
              <a:tr h="457200">
                <a:tc>
                  <a:txBody>
                    <a:bodyPr wrap="square"/>
                    <a:lstStyle/>
                    <a:p>
                      <a:r>
                        <a:rPr sz="1450">
                          <a:solidFill>
                            <a:srgbClr val="1F2937"/>
                          </a:solidFill>
                          <a:latin typeface="Calibri"/>
                        </a:rPr>
                        <a:t/>
                      </a:r>
                    </a:p>
                  </a:txBody>
                  <a:tcPr anchor="ctr" marT="54864" marB="54864">
                    <a:solidFill>
                      <a:srgbClr val="F8FAFC"/>
                    </a:solidFill>
                  </a:tcPr>
                </a:tc>
                <a:tc>
                  <a:txBody>
                    <a:bodyPr wrap="square"/>
                    <a:lstStyle/>
                    <a:p>
                      <a:r>
                        <a:rPr sz="1450">
                          <a:solidFill>
                            <a:srgbClr val="1F2937"/>
                          </a:solidFill>
                          <a:latin typeface="Calibri"/>
                        </a:rPr>
                        <a:t>Owned final verification &amp; deployment</a:t>
                      </a:r>
                    </a:p>
                  </a:txBody>
                  <a:tcPr anchor="ctr" marT="54864" marB="54864">
                    <a:solidFill>
                      <a:srgbClr val="F8FAFC"/>
                    </a:solidFill>
                  </a:tcPr>
                </a:tc>
              </a:tr>
            </a:tbl>
          </a:graphicData>
        </a:graphic>
      </p:graphicFrame>
      <p:sp>
        <p:nvSpPr>
          <p:cNvPr id="9" name="Rectangle 8"/>
          <p:cNvSpPr/>
          <p:nvPr/>
        </p:nvSpPr>
        <p:spPr>
          <a:xfrm>
            <a:off x="502920" y="5120640"/>
            <a:ext cx="11185855" cy="1234440"/>
          </a:xfrm>
          <a:prstGeom prst="rect">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230368"/>
            <a:ext cx="10728655" cy="1051560"/>
          </a:xfrm>
          <a:prstGeom prst="rect">
            <a:avLst/>
          </a:prstGeom>
          <a:noFill/>
        </p:spPr>
        <p:txBody>
          <a:bodyPr wrap="square" anchor="t">
            <a:spAutoFit/>
          </a:bodyPr>
          <a:lstStyle/>
          <a:p>
            <a:pPr algn="l">
              <a:lnSpc>
                <a:spcPct val="120000"/>
              </a:lnSpc>
            </a:pPr>
            <a:r>
              <a:rPr sz="1450" b="0" i="0">
                <a:solidFill>
                  <a:srgbClr val="1F2937"/>
                </a:solidFill>
                <a:latin typeface="Calibri"/>
              </a:rPr>
              <a:t>Concrete example: mid-implementation, the agent flagged that an old test assumed a field (batch_id) gets nulled on delete — no longer valid once deletion became soft-delete. It could surface the conflict, not resolve it. I decided to keep the field intact; the spec was corrected accordingly (commit efd8854).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3 — THE METHODOLOGY</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Why This Development Model Worked</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15</a:t>
            </a:r>
          </a:p>
        </p:txBody>
      </p:sp>
      <p:sp>
        <p:nvSpPr>
          <p:cNvPr id="8" name="TextBox 7"/>
          <p:cNvSpPr txBox="1"/>
          <p:nvPr/>
        </p:nvSpPr>
        <p:spPr>
          <a:xfrm>
            <a:off x="502920" y="1645920"/>
            <a:ext cx="5410047" cy="4663440"/>
          </a:xfrm>
          <a:prstGeom prst="rect">
            <a:avLst/>
          </a:prstGeom>
          <a:noFill/>
        </p:spPr>
        <p:txBody>
          <a:bodyPr wrap="square">
            <a:spAutoFit/>
          </a:bodyPr>
          <a:lstStyle/>
          <a:p>
            <a:pPr>
              <a:lnSpc>
                <a:spcPct val="115000"/>
              </a:lnSpc>
              <a:spcAft>
                <a:spcPts val="1400"/>
              </a:spcAft>
            </a:pPr>
            <a:r>
              <a:rPr sz="1700" b="1">
                <a:solidFill>
                  <a:srgbClr val="059669"/>
                </a:solidFill>
                <a:latin typeface="Calibri"/>
              </a:rPr>
              <a:t>1.  </a:t>
            </a:r>
            <a:r>
              <a:rPr sz="1700">
                <a:solidFill>
                  <a:srgbClr val="1F2937"/>
                </a:solidFill>
                <a:latin typeface="Calibri"/>
              </a:rPr>
              <a:t>Deep involvement in every ambiguous decision</a:t>
            </a:r>
          </a:p>
          <a:p>
            <a:pPr>
              <a:lnSpc>
                <a:spcPct val="115000"/>
              </a:lnSpc>
              <a:spcAft>
                <a:spcPts val="1400"/>
              </a:spcAft>
            </a:pPr>
            <a:r>
              <a:rPr sz="1700" b="1">
                <a:solidFill>
                  <a:srgbClr val="059669"/>
                </a:solidFill>
                <a:latin typeface="Calibri"/>
              </a:rPr>
              <a:t>2.  </a:t>
            </a:r>
            <a:r>
              <a:rPr sz="1700">
                <a:solidFill>
                  <a:srgbClr val="1F2937"/>
                </a:solidFill>
                <a:latin typeface="Calibri"/>
              </a:rPr>
              <a:t>CLAUDE.md actively maintained, not written once</a:t>
            </a:r>
          </a:p>
          <a:p>
            <a:pPr>
              <a:lnSpc>
                <a:spcPct val="115000"/>
              </a:lnSpc>
              <a:spcAft>
                <a:spcPts val="1400"/>
              </a:spcAft>
            </a:pPr>
            <a:r>
              <a:rPr sz="1700" b="1">
                <a:solidFill>
                  <a:srgbClr val="059669"/>
                </a:solidFill>
                <a:latin typeface="Calibri"/>
              </a:rPr>
              <a:t>3.  </a:t>
            </a:r>
            <a:r>
              <a:rPr sz="1700">
                <a:solidFill>
                  <a:srgbClr val="1F2937"/>
                </a:solidFill>
                <a:latin typeface="Calibri"/>
              </a:rPr>
              <a:t>Explicit “Red Lines” remove entire risk categories</a:t>
            </a:r>
          </a:p>
          <a:p>
            <a:pPr>
              <a:lnSpc>
                <a:spcPct val="115000"/>
              </a:lnSpc>
              <a:spcAft>
                <a:spcPts val="1400"/>
              </a:spcAft>
            </a:pPr>
            <a:r>
              <a:rPr sz="1700" b="1">
                <a:solidFill>
                  <a:srgbClr val="059669"/>
                </a:solidFill>
                <a:latin typeface="Calibri"/>
              </a:rPr>
              <a:t>4.  </a:t>
            </a:r>
            <a:r>
              <a:rPr sz="1700">
                <a:solidFill>
                  <a:srgbClr val="1F2937"/>
                </a:solidFill>
                <a:latin typeface="Calibri"/>
              </a:rPr>
              <a:t>Large features → small, independently reviewed tasks</a:t>
            </a:r>
          </a:p>
        </p:txBody>
      </p:sp>
      <p:sp>
        <p:nvSpPr>
          <p:cNvPr id="9" name="TextBox 8"/>
          <p:cNvSpPr txBox="1"/>
          <p:nvPr/>
        </p:nvSpPr>
        <p:spPr>
          <a:xfrm>
            <a:off x="6278727" y="1645920"/>
            <a:ext cx="5410047" cy="4663440"/>
          </a:xfrm>
          <a:prstGeom prst="rect">
            <a:avLst/>
          </a:prstGeom>
          <a:noFill/>
        </p:spPr>
        <p:txBody>
          <a:bodyPr wrap="square">
            <a:spAutoFit/>
          </a:bodyPr>
          <a:lstStyle/>
          <a:p>
            <a:pPr>
              <a:lnSpc>
                <a:spcPct val="115000"/>
              </a:lnSpc>
              <a:spcAft>
                <a:spcPts val="1400"/>
              </a:spcAft>
            </a:pPr>
            <a:r>
              <a:rPr sz="1700" b="1">
                <a:solidFill>
                  <a:srgbClr val="059669"/>
                </a:solidFill>
                <a:latin typeface="Calibri"/>
              </a:rPr>
              <a:t>5.  </a:t>
            </a:r>
            <a:r>
              <a:rPr sz="1700">
                <a:solidFill>
                  <a:srgbClr val="1F2937"/>
                </a:solidFill>
                <a:latin typeface="Calibri"/>
              </a:rPr>
              <a:t>TDD evidence required at every checkpoint</a:t>
            </a:r>
          </a:p>
          <a:p>
            <a:pPr>
              <a:lnSpc>
                <a:spcPct val="115000"/>
              </a:lnSpc>
              <a:spcAft>
                <a:spcPts val="1400"/>
              </a:spcAft>
            </a:pPr>
            <a:r>
              <a:rPr sz="1700" b="1">
                <a:solidFill>
                  <a:srgbClr val="059669"/>
                </a:solidFill>
                <a:latin typeface="Calibri"/>
              </a:rPr>
              <a:t>6.  </a:t>
            </a:r>
            <a:r>
              <a:rPr sz="1700">
                <a:solidFill>
                  <a:srgbClr val="1F2937"/>
                </a:solidFill>
                <a:latin typeface="Calibri"/>
              </a:rPr>
              <a:t>Layered review — per-task + full-branch</a:t>
            </a:r>
          </a:p>
          <a:p>
            <a:pPr>
              <a:lnSpc>
                <a:spcPct val="115000"/>
              </a:lnSpc>
              <a:spcAft>
                <a:spcPts val="1400"/>
              </a:spcAft>
            </a:pPr>
            <a:r>
              <a:rPr sz="1700" b="1">
                <a:solidFill>
                  <a:srgbClr val="059669"/>
                </a:solidFill>
                <a:latin typeface="Calibri"/>
              </a:rPr>
              <a:t>7.  </a:t>
            </a:r>
            <a:r>
              <a:rPr sz="1700">
                <a:solidFill>
                  <a:srgbClr val="1F2937"/>
                </a:solidFill>
                <a:latin typeface="Calibri"/>
              </a:rPr>
              <a:t>Durable audit trail — nothing is tribal knowledge</a:t>
            </a:r>
          </a:p>
          <a:p>
            <a:pPr>
              <a:lnSpc>
                <a:spcPct val="115000"/>
              </a:lnSpc>
              <a:spcAft>
                <a:spcPts val="1400"/>
              </a:spcAft>
            </a:pPr>
            <a:r>
              <a:rPr sz="1700" b="1">
                <a:solidFill>
                  <a:srgbClr val="059669"/>
                </a:solidFill>
                <a:latin typeface="Calibri"/>
              </a:rPr>
              <a:t>8.  </a:t>
            </a:r>
            <a:r>
              <a:rPr sz="1700">
                <a:solidFill>
                  <a:srgbClr val="1F2937"/>
                </a:solidFill>
                <a:latin typeface="Calibri"/>
              </a:rPr>
              <a:t>Verified against the real deployed system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4 — RESULTS AND IMPLICATIONS</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Results in Numbers</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16</a:t>
            </a:r>
          </a:p>
        </p:txBody>
      </p:sp>
      <p:pic>
        <p:nvPicPr>
          <p:cNvPr id="8" name="Picture 7" descr="stats.png"/>
          <p:cNvPicPr>
            <a:picLocks noChangeAspect="1"/>
          </p:cNvPicPr>
          <p:nvPr/>
        </p:nvPicPr>
        <p:blipFill>
          <a:blip r:embed="rId2"/>
          <a:stretch>
            <a:fillRect/>
          </a:stretch>
        </p:blipFill>
        <p:spPr>
          <a:xfrm>
            <a:off x="640080" y="1600200"/>
            <a:ext cx="10911535" cy="374714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4 — RESULTS AND IMPLICATIONS</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Challenges &amp; Lessons Learned</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17</a:t>
            </a:r>
          </a:p>
        </p:txBody>
      </p:sp>
      <p:sp>
        <p:nvSpPr>
          <p:cNvPr id="8" name="TextBox 7"/>
          <p:cNvSpPr txBox="1"/>
          <p:nvPr/>
        </p:nvSpPr>
        <p:spPr>
          <a:xfrm>
            <a:off x="502920" y="1600200"/>
            <a:ext cx="11185855" cy="470916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Process didn't prevent every mistake — it caught them</a:t>
            </a:r>
          </a:p>
          <a:p>
            <a:pPr>
              <a:lnSpc>
                <a:spcPct val="115000"/>
              </a:lnSpc>
              <a:spcAft>
                <a:spcPts val="1000"/>
              </a:spcAft>
            </a:pPr>
            <a:r>
              <a:rPr sz="2000" b="1">
                <a:solidFill>
                  <a:srgbClr val="2563EB"/>
                </a:solidFill>
                <a:latin typeface="Calibri"/>
              </a:rPr>
              <a:t>•  </a:t>
            </a:r>
            <a:r>
              <a:rPr sz="2000">
                <a:solidFill>
                  <a:srgbClr val="1F2937"/>
                </a:solidFill>
                <a:latin typeface="Calibri"/>
              </a:rPr>
              <a:t>Real overhead: review + TDD slow down small changes</a:t>
            </a:r>
          </a:p>
          <a:p>
            <a:pPr>
              <a:lnSpc>
                <a:spcPct val="115000"/>
              </a:lnSpc>
              <a:spcAft>
                <a:spcPts val="1000"/>
              </a:spcAft>
            </a:pPr>
            <a:r>
              <a:rPr sz="2000" b="1">
                <a:solidFill>
                  <a:srgbClr val="2563EB"/>
                </a:solidFill>
                <a:latin typeface="Calibri"/>
              </a:rPr>
              <a:t>•  </a:t>
            </a:r>
            <a:r>
              <a:rPr sz="2000">
                <a:solidFill>
                  <a:srgbClr val="1F2937"/>
                </a:solidFill>
                <a:latin typeface="Calibri"/>
              </a:rPr>
              <a:t>Human bottleneck is deliberate, not accidental</a:t>
            </a:r>
          </a:p>
          <a:p>
            <a:pPr>
              <a:lnSpc>
                <a:spcPct val="115000"/>
              </a:lnSpc>
              <a:spcAft>
                <a:spcPts val="1000"/>
              </a:spcAft>
            </a:pPr>
            <a:r>
              <a:rPr sz="2000" b="1">
                <a:solidFill>
                  <a:srgbClr val="2563EB"/>
                </a:solidFill>
                <a:latin typeface="Calibri"/>
              </a:rPr>
              <a:t>•  </a:t>
            </a:r>
            <a:r>
              <a:rPr sz="2000">
                <a:solidFill>
                  <a:srgbClr val="1F2937"/>
                </a:solidFill>
                <a:latin typeface="Calibri"/>
              </a:rPr>
              <a:t>Knowing which calls can't be delegated is itself a skill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1185855" cy="320040"/>
          </a:xfrm>
          <a:prstGeom prst="rect">
            <a:avLst/>
          </a:prstGeom>
          <a:noFill/>
        </p:spPr>
        <p:txBody>
          <a:bodyPr wrap="square" anchor="t">
            <a:spAutoFit/>
          </a:bodyPr>
          <a:lstStyle/>
          <a:p>
            <a:pPr algn="l">
              <a:lnSpc>
                <a:spcPct val="115000"/>
              </a:lnSpc>
            </a:pPr>
            <a:r>
              <a:rPr sz="1300" b="1" i="0">
                <a:solidFill>
                  <a:srgbClr val="6B7280"/>
                </a:solidFill>
                <a:latin typeface="Calibri"/>
              </a:rPr>
              <a:t>PART 4 — RESULTS AND IMPLICATIONS</a:t>
            </a:r>
          </a:p>
        </p:txBody>
      </p:sp>
      <p:sp>
        <p:nvSpPr>
          <p:cNvPr id="4" name="TextBox 3"/>
          <p:cNvSpPr txBox="1"/>
          <p:nvPr/>
        </p:nvSpPr>
        <p:spPr>
          <a:xfrm>
            <a:off x="502920" y="566928"/>
            <a:ext cx="11185855" cy="822960"/>
          </a:xfrm>
          <a:prstGeom prst="rect">
            <a:avLst/>
          </a:prstGeom>
          <a:noFill/>
        </p:spPr>
        <p:txBody>
          <a:bodyPr wrap="square" anchor="t">
            <a:spAutoFit/>
          </a:bodyPr>
          <a:lstStyle/>
          <a:p>
            <a:pPr algn="l">
              <a:lnSpc>
                <a:spcPct val="115000"/>
              </a:lnSpc>
            </a:pPr>
            <a:r>
              <a:rPr sz="3200" b="1" i="0">
                <a:solidFill>
                  <a:srgbClr val="1F2937"/>
                </a:solidFill>
                <a:latin typeface="Calibri"/>
              </a:rPr>
              <a:t>Future Work &amp; Broader Implication</a:t>
            </a:r>
          </a:p>
        </p:txBody>
      </p:sp>
      <p:sp>
        <p:nvSpPr>
          <p:cNvPr id="5" name="Rectangle 4"/>
          <p:cNvSpPr/>
          <p:nvPr/>
        </p:nvSpPr>
        <p:spPr>
          <a:xfrm>
            <a:off x="502920" y="1371600"/>
            <a:ext cx="11185855" cy="20116"/>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00800"/>
            <a:ext cx="5486400" cy="320040"/>
          </a:xfrm>
          <a:prstGeom prst="rect">
            <a:avLst/>
          </a:prstGeom>
          <a:noFill/>
        </p:spPr>
        <p:txBody>
          <a:bodyPr wrap="square" anchor="t">
            <a:spAutoFit/>
          </a:bodyPr>
          <a:lstStyle/>
          <a:p>
            <a:pPr algn="l">
              <a:lnSpc>
                <a:spcPct val="115000"/>
              </a:lnSpc>
            </a:pPr>
            <a:r>
              <a:rPr sz="1100" b="0" i="0">
                <a:solidFill>
                  <a:srgbClr val="6B7280"/>
                </a:solidFill>
                <a:latin typeface="Calibri"/>
              </a:rPr>
              <a:t>Programming Learning Platform — Capstone</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18</a:t>
            </a:r>
          </a:p>
        </p:txBody>
      </p:sp>
      <p:sp>
        <p:nvSpPr>
          <p:cNvPr id="8" name="TextBox 7"/>
          <p:cNvSpPr txBox="1"/>
          <p:nvPr/>
        </p:nvSpPr>
        <p:spPr>
          <a:xfrm>
            <a:off x="502920" y="1600200"/>
            <a:ext cx="11185855" cy="4709160"/>
          </a:xfrm>
          <a:prstGeom prst="rect">
            <a:avLst/>
          </a:prstGeom>
          <a:noFill/>
        </p:spPr>
        <p:txBody>
          <a:bodyPr wrap="square">
            <a:spAutoFit/>
          </a:bodyPr>
          <a:lstStyle/>
          <a:p>
            <a:pPr>
              <a:lnSpc>
                <a:spcPct val="115000"/>
              </a:lnSpc>
              <a:spcAft>
                <a:spcPts val="1000"/>
              </a:spcAft>
            </a:pPr>
            <a:r>
              <a:rPr sz="2000" b="1">
                <a:solidFill>
                  <a:srgbClr val="2563EB"/>
                </a:solidFill>
                <a:latin typeface="Calibri"/>
              </a:rPr>
              <a:t>•  </a:t>
            </a:r>
            <a:r>
              <a:rPr sz="2000">
                <a:solidFill>
                  <a:srgbClr val="1F2937"/>
                </a:solidFill>
                <a:latin typeface="Calibri"/>
              </a:rPr>
              <a:t>P1: Exercise Likes, Profile management</a:t>
            </a:r>
          </a:p>
          <a:p>
            <a:pPr>
              <a:lnSpc>
                <a:spcPct val="115000"/>
              </a:lnSpc>
              <a:spcAft>
                <a:spcPts val="1000"/>
              </a:spcAft>
            </a:pPr>
            <a:r>
              <a:rPr sz="2000" b="1">
                <a:solidFill>
                  <a:srgbClr val="2563EB"/>
                </a:solidFill>
                <a:latin typeface="Calibri"/>
              </a:rPr>
              <a:t>•  </a:t>
            </a:r>
            <a:r>
              <a:rPr sz="2000">
                <a:solidFill>
                  <a:srgbClr val="1F2937"/>
                </a:solidFill>
                <a:latin typeface="Calibri"/>
              </a:rPr>
              <a:t>Broader: this pattern generalizes beyond this project</a:t>
            </a:r>
          </a:p>
          <a:p>
            <a:pPr>
              <a:lnSpc>
                <a:spcPct val="115000"/>
              </a:lnSpc>
              <a:spcAft>
                <a:spcPts val="1000"/>
              </a:spcAft>
            </a:pPr>
            <a:r>
              <a:rPr sz="2000" b="1">
                <a:solidFill>
                  <a:srgbClr val="2563EB"/>
                </a:solidFill>
                <a:latin typeface="Calibri"/>
              </a:rPr>
              <a:t>•  </a:t>
            </a:r>
            <a:r>
              <a:rPr sz="2000">
                <a:solidFill>
                  <a:srgbClr val="1F2937"/>
                </a:solidFill>
                <a:latin typeface="Calibri"/>
              </a:rPr>
              <a:t>Candidate template for reliable AI-agent-built software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365760"/>
          </a:xfrm>
          <a:prstGeom prst="rect">
            <a:avLst/>
          </a:prstGeom>
          <a:noFill/>
        </p:spPr>
        <p:txBody>
          <a:bodyPr wrap="square" anchor="t">
            <a:spAutoFit/>
          </a:bodyPr>
          <a:lstStyle/>
          <a:p>
            <a:pPr algn="ctr">
              <a:lnSpc>
                <a:spcPct val="115000"/>
              </a:lnSpc>
            </a:pPr>
            <a:r>
              <a:rPr sz="1300" b="1" i="0">
                <a:solidFill>
                  <a:srgbClr val="6B7280"/>
                </a:solidFill>
                <a:latin typeface="Calibri"/>
              </a:rPr>
              <a:t>PART 5 — QUESTION AND ANSWER</a:t>
            </a:r>
          </a:p>
        </p:txBody>
      </p:sp>
      <p:sp>
        <p:nvSpPr>
          <p:cNvPr id="5" name="TextBox 4"/>
          <p:cNvSpPr txBox="1"/>
          <p:nvPr/>
        </p:nvSpPr>
        <p:spPr>
          <a:xfrm>
            <a:off x="731520" y="2057400"/>
            <a:ext cx="10728655" cy="1280160"/>
          </a:xfrm>
          <a:prstGeom prst="rect">
            <a:avLst/>
          </a:prstGeom>
          <a:noFill/>
        </p:spPr>
        <p:txBody>
          <a:bodyPr wrap="square" anchor="ctr">
            <a:spAutoFit/>
          </a:bodyPr>
          <a:lstStyle/>
          <a:p>
            <a:pPr algn="ctr">
              <a:lnSpc>
                <a:spcPct val="115000"/>
              </a:lnSpc>
            </a:pPr>
            <a:r>
              <a:rPr sz="4800" b="1" i="0">
                <a:solidFill>
                  <a:srgbClr val="2563EB"/>
                </a:solidFill>
                <a:latin typeface="Calibri"/>
              </a:rPr>
              <a:t>Questions?</a:t>
            </a:r>
          </a:p>
        </p:txBody>
      </p:sp>
      <p:sp>
        <p:nvSpPr>
          <p:cNvPr id="6" name="TextBox 5"/>
          <p:cNvSpPr txBox="1"/>
          <p:nvPr/>
        </p:nvSpPr>
        <p:spPr>
          <a:xfrm>
            <a:off x="1188720" y="3520440"/>
            <a:ext cx="9814255" cy="1645920"/>
          </a:xfrm>
          <a:prstGeom prst="rect">
            <a:avLst/>
          </a:prstGeom>
          <a:noFill/>
        </p:spPr>
        <p:txBody>
          <a:bodyPr wrap="square" anchor="t">
            <a:spAutoFit/>
          </a:bodyPr>
          <a:lstStyle/>
          <a:p>
            <a:pPr algn="ctr">
              <a:lnSpc>
                <a:spcPct val="130000"/>
              </a:lnSpc>
            </a:pPr>
            <a:r>
              <a:rPr sz="2000" b="0" i="0">
                <a:solidFill>
                  <a:srgbClr val="1F2937"/>
                </a:solidFill>
                <a:latin typeface="Calibri"/>
              </a:rPr>
              <a:t>Thank you.</a:t>
            </a:r>
          </a:p>
        </p:txBody>
      </p:sp>
      <p:sp>
        <p:nvSpPr>
          <p:cNvPr id="7" name="TextBox 6"/>
          <p:cNvSpPr txBox="1"/>
          <p:nvPr/>
        </p:nvSpPr>
        <p:spPr>
          <a:xfrm>
            <a:off x="10728655" y="6400800"/>
            <a:ext cx="1005840" cy="320040"/>
          </a:xfrm>
          <a:prstGeom prst="rect">
            <a:avLst/>
          </a:prstGeom>
          <a:noFill/>
        </p:spPr>
        <p:txBody>
          <a:bodyPr wrap="square" anchor="t">
            <a:spAutoFit/>
          </a:bodyPr>
          <a:lstStyle/>
          <a:p>
            <a:pPr algn="r">
              <a:lnSpc>
                <a:spcPct val="115000"/>
              </a:lnSpc>
            </a:pPr>
            <a:r>
              <a:rPr sz="1100" b="0" i="0">
                <a:solidFill>
                  <a:srgbClr val="6B7280"/>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